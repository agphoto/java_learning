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gole di base" id="{28836223-958a-0420-2044-19709e29e305}">
          <p14:sldIdLst>
            <p14:sldId id="256"/>
            <p14:sldId id="257"/>
          </p14:sldIdLst>
        </p14:section>
        <p14:section name="Eccezioni di dominio" id="{f2994ac8-6074-7fa8-a48c-a49b13bbcb46}">
          <p14:sldIdLst>
            <p14:sldId id="258"/>
            <p14:sldId id="259"/>
            <p14:sldId id="260"/>
            <p14:sldId id="261"/>
            <p14:sldId id="262"/>
            <p14:sldId id="263"/>
          </p14:sldIdLst>
        </p14:section>
        <p14:section name="Validazione" id="{196c56ec-78c0-d340-6f78-87de904225ea}">
          <p14:sldIdLst>
            <p14:sldId id="264"/>
            <p14:sldId id="265"/>
            <p14:sldId id="266"/>
          </p14:sldIdLst>
        </p14:section>
        <p14:section name="Reti di sicurezza e log" id="{1cf47c15-0f0c-0d31-af31-18105856e59d}">
          <p14:sldIdLst>
            <p14:sldId id="267"/>
            <p14:sldId id="268"/>
          </p14:sldIdLst>
        </p14:section>
        <p14:section name="Client Angular" id="{404bf044-6f62-e2b8-9ab9-f2f31bdf2872}">
          <p14:sldIdLst>
            <p14:sldId id="269"/>
          </p14:sldIdLst>
        </p14:section>
        <p14:section name="Riepilogo" id="{05f647f0-1273-dee4-5d15-9362313aae4f}">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slide è una ricetta: a sinistra il problema da risolvere, a destra il codice da scrivere. La teoria completa è nel manuale basic/docs/manuale-gestione-eccezioni.md.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Unchecked perché nessun livello intermedio può recuperare un errore come “libro inesistente”, e perché @Transactional fa rollback solo sulle RuntimeException. Le ricette che seguono applicano queste sei regole.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messaggio passato a super() è per la persona e diventa il detail; i campi come bookId sono per la macchina e diventano estensioni del ProblemDetail. L’eccezione non conosce lo stato HTTP: lo decide il catalogo ErrorCode.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service verifica le regole e lancia, senza sapere che esiste HTTP. Il controllo existsByIsbn dà un 409 chiaro, ma non elimina la corsa fra due richieste concorrenti: per quella resta il vincolo del database, coperto dalla ricetta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catalogo è il contratto con il client, leggibile in un colpo d’occhio. type e code derivano dallo stesso nome, quindi non possono divergere. Il costruttore dell’enum calcola il type: BOOK_NOT_FOUND diventa https://java-learning.local/errors/book-not-found.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L’helper problem(code, detail) crea il ProblemDetail con lo stato del catalogo e vi imposta type, title e code. Spring legge lo status da problem.getStatus(): non serve @ResponseStatus. Fra più handler compatibili vince quello con il tipo più vicino all’eccezione lanciata.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identifica il tipo di problema ed è stabile: non si traduce. title è fisso per tipo, detail descrive questa occorrenza ed è per la persona. instance lo aggiunge Spring con il path della richiesta. Le estensioni impostate con setProperty compaiono al primo livello del JSON: sono i dati su cui il client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BookOnLoanException è un esempio, non esiste in basic. Anche con ResponseEntity il codice non scrive mai la risposta HTTP: costruisce un oggetto, il framework lo serializza e lo invia. Se la risposta è già partita, per esempio durante uno streaming, l’errore non può più diventare un ProblemDetail.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validazione avviene prima che create venga eseguito: se fallisce, il service non viene chiamato. Hibernate Validator valuta tutti i vincoli, non si ferma al primo, e traduce i messaggi nella lingua di Accept-Language. Un JSON sintatticamente rotto si ferma prima: HttpMessageNotReadableException, 400 senza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Basta un vincolo diretto su un parametro perché l’eccezione cambi: non più MethodArgumentNotValidException ma HandlerMethodValidationException, anche per gli errori del corpo. Senza l’override il client riceverebbe un 400 generico di Spring, senza code né errors. In basic l’override esiste già. Non mettere @Validated sulla classe del controller: è la validazione AOP, pensata per i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le eccezioni che la classe base già gestisce non si può scrivere un proprio @ExceptionHandler: l’avvio fallisce con “Ambiguous @ExceptionHandler method”. Si fa l’override del metodo handleXxx corrispondente. La firma impone ResponseEntity&lt;Object&gt;, quindi si chiude con handleExceptionInternal, che resta il punto di passaggio comune. validationProblem imposta type, title, code, un detail unico ed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controllo applicativo existsByIsbn non copre due richieste concorrenti: il vincolo uk_book_isbn del database è l’ultima difesa, e la sua eccezione diventa un 409 senza dettagli. L’handler di Exception cattura tutto ciò che non ha un handler più specifico: le eccezioni di dominio e quelle standard di Spring restano sui loro handler, perché vince il tipo più vicino.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l’eccezione come ultimo argomento il logger stampa tutto lo stack trace, con la catena dei Caused by. Concatenare l’eccezione o passarne solo il messaggio perde i frame. ex.getCause() è null quando l’eccezione non avvolge un’altra: si perde tutto. Un 404 previsto non è un guasto: basta un debug, o nessun log. Non loggare nel service prima di rilanciare: lo stesso errore comparirebbe due volte.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HttpClient non emette next su un 4xx o 5xx: emette un HttpErrorResponse, con il corpo JSON già parsato in error.error. L’interceptor lo appiattisce in un ProblemDetail, così i componenti non vedono mai HttpErrorResponse. Le eccezioni standard di Spring senza override non hanno code: per questo il client ripiega su status. markIsbnDuplicate è un esempio.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Lato client, se serve un comportamento specifico, si aggiunge l’estensione all’interfaccia ProblemDetail e un ramo sul nuovo code. Il resto del front-end mostra già title, detail ed errors in modo generico.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Ogni riga è un errore realistico. Il primo si scopre all’avvio; gli altri passano in silenzio e si notano solo dal client o in produzione. Il rollback di @Transactional, per default, scatta solo su RuntimeException ed Error: una checked lanciata da un metodo transazionale fa commit, salvo rollbackFor.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L’unico punto in cui un’eccezione diventa risposta è l’advice, evidenziato. Il controller non contiene try/catch, il service non conosce HTTP, il componente Angular non vede mai HttpErrorResponse. Il diagramma completo, con tutti i rami di errore, è nel paragrafo 12 del manuale.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PERTINA">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2331720"/>
            <a:ext cx="10565892" cy="274320"/>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812902" y="2697480"/>
            <a:ext cx="9601200" cy="1828800"/>
          </a:xfrm>
          <a:prstGeom prst="rect">
            <a:avLst/>
          </a:prstGeom>
          <a:noFill/>
          <a:ln/>
        </p:spPr>
        <p:txBody>
          <a:bodyPr wrap="square" rtlCol="0"/>
          <a:lstStyle>
            <a:lvl1pPr indent="0" marL="0">
              <a:buNone/>
              <a:defRPr lang="en-US" sz="5400" b="1" dirty="0">
                <a:solidFill>
                  <a:schemeClr val="bg1"/>
                </a:solidFill>
              </a:defRPr>
            </a:lvl1pPr>
          </a:lstStyle>
          <a:p>
            <a:pPr indent="0" marL="0">
              <a:buNone/>
            </a:pPr>
            <a:endParaRPr lang="en-US" sz="5400" dirty="0"/>
          </a:p>
        </p:txBody>
      </p:sp>
      <p:sp>
        <p:nvSpPr>
          <p:cNvPr id="4" name="Text 0"/>
          <p:cNvSpPr/>
          <p:nvPr>
            <p:ph idx="102" type="body" hasCustomPrompt="1"/>
          </p:nvPr>
        </p:nvSpPr>
        <p:spPr>
          <a:xfrm>
            <a:off x="812902" y="4617720"/>
            <a:ext cx="10565892" cy="457200"/>
          </a:xfrm>
          <a:prstGeom prst="rect">
            <a:avLst/>
          </a:prstGeom>
          <a:noFill/>
          <a:ln/>
        </p:spPr>
        <p:txBody>
          <a:bodyPr wrap="square" rtlCol="0"/>
          <a:lstStyle>
            <a:lvl1pPr indent="0" marL="0">
              <a:buNone/>
              <a:defRPr lang="en-US" sz="2200" b="1" dirty="0">
                <a:solidFill>
                  <a:schemeClr val="accent2"/>
                </a:solidFill>
              </a:defRPr>
            </a:lvl1pPr>
          </a:lstStyle>
          <a:p>
            <a:pPr indent="0" marL="0">
              <a:buNone/>
            </a:pPr>
            <a:endParaRPr lang="en-US" sz="2200" dirty="0"/>
          </a:p>
        </p:txBody>
      </p:sp>
      <p:sp>
        <p:nvSpPr>
          <p:cNvPr id="5" name="Text 0"/>
          <p:cNvSpPr/>
          <p:nvPr>
            <p:ph idx="103" type="body" hasCustomPrompt="1"/>
          </p:nvPr>
        </p:nvSpPr>
        <p:spPr>
          <a:xfrm>
            <a:off x="812902" y="5166360"/>
            <a:ext cx="8686800" cy="82296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ICETTA">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ph idx="102" type="body" hasCustomPrompt="1"/>
          </p:nvPr>
        </p:nvSpPr>
        <p:spPr>
          <a:xfrm>
            <a:off x="1067105" y="2560320"/>
            <a:ext cx="2794406" cy="1280160"/>
          </a:xfrm>
          <a:prstGeom prst="rect">
            <a:avLst/>
          </a:prstGeom>
          <a:noFill/>
          <a:ln/>
        </p:spPr>
        <p:txBody>
          <a:bodyPr wrap="square" rtlCol="0"/>
          <a:lstStyle>
            <a:lvl1pPr indent="0" marL="0">
              <a:buNone/>
              <a:defRPr lang="en-US" sz="1800" b="1" dirty="0">
                <a:solidFill>
                  <a:schemeClr val="tx1"/>
                </a:solidFill>
              </a:defRPr>
            </a:lvl1pPr>
          </a:lstStyle>
          <a:p>
            <a:pPr indent="0" marL="0">
              <a:buNone/>
            </a:pPr>
            <a:endParaRPr lang="en-US" sz="1800" dirty="0"/>
          </a:p>
        </p:txBody>
      </p:sp>
      <p:sp>
        <p:nvSpPr>
          <p:cNvPr id="5" name="Text 0"/>
          <p:cNvSpPr/>
          <p:nvPr>
            <p:ph idx="103" type="body" hasCustomPrompt="1"/>
          </p:nvPr>
        </p:nvSpPr>
        <p:spPr>
          <a:xfrm>
            <a:off x="1067105" y="3931920"/>
            <a:ext cx="2794406" cy="1783080"/>
          </a:xfrm>
          <a:prstGeom prst="rect">
            <a:avLst/>
          </a:prstGeom>
          <a:noFill/>
          <a:ln/>
        </p:spPr>
        <p:txBody>
          <a:bodyPr wrap="square" rtlCol="0"/>
          <a:lstStyle>
            <a:lvl1pPr indent="0" marL="0">
              <a:spcAft>
                <a:spcPts val="600"/>
              </a:spcAft>
              <a:buNone/>
              <a:defRPr lang="en-US" sz="1400" dirty="0">
                <a:solidFill>
                  <a:schemeClr val="accent4"/>
                </a:solidFill>
              </a:defRPr>
            </a:lvl1pPr>
          </a:lstStyle>
          <a:p>
            <a:pPr indent="0" marL="0">
              <a:spcAft>
                <a:spcPts val="600"/>
              </a:spcAft>
              <a:buNone/>
            </a:pPr>
            <a:endParaRPr lang="en-US" sz="1400" dirty="0"/>
          </a:p>
        </p:txBody>
      </p:sp>
      <p:sp>
        <p:nvSpPr>
          <p:cNvPr id="6" name="Text 0"/>
          <p:cNvSpPr/>
          <p:nvPr>
            <p:ph idx="104" type="body" hasCustomPrompt="1"/>
          </p:nvPr>
        </p:nvSpPr>
        <p:spPr>
          <a:xfrm>
            <a:off x="5181905" y="2560320"/>
            <a:ext cx="5943600" cy="3154680"/>
          </a:xfrm>
          <a:prstGeom prst="rect">
            <a:avLst/>
          </a:prstGeom>
          <a:noFill/>
          <a:ln/>
        </p:spPr>
        <p:txBody>
          <a:bodyPr wrap="square" rtlCol="0"/>
          <a:lstStyle>
            <a:lvl1pPr indent="0" marL="0">
              <a:lnSpc>
                <a:spcPct val="130000"/>
              </a:lnSpc>
              <a:buNone/>
              <a:defRPr lang="en-US" sz="1200" dirty="0">
                <a:solidFill>
                  <a:schemeClr val="bg1"/>
                </a:solidFill>
                <a:latin typeface="Courier New" pitchFamily="34" charset="0"/>
                <a:ea typeface="Courier New" pitchFamily="34" charset="-122"/>
                <a:cs typeface="Courier New" pitchFamily="34" charset="-120"/>
              </a:defRPr>
            </a:lvl1pPr>
          </a:lstStyle>
          <a:p>
            <a:pPr indent="0" marL="0">
              <a:lnSpc>
                <a:spcPct val="130000"/>
              </a:lnSpc>
              <a:buNone/>
            </a:pPr>
            <a:endParaRPr lang="en-US" sz="1200" dirty="0"/>
          </a:p>
        </p:txBody>
      </p:sp>
      <p:sp>
        <p:nvSpPr>
          <p:cNvPr id="7" name="Text 0"/>
          <p:cNvSpPr/>
          <p:nvPr>
            <p:ph idx="105" type="body" hasCustomPrompt="1"/>
          </p:nvPr>
        </p:nvSpPr>
        <p:spPr>
          <a:xfrm>
            <a:off x="812902" y="6263640"/>
            <a:ext cx="9875520" cy="274320"/>
          </a:xfrm>
          <a:prstGeom prst="rect">
            <a:avLst/>
          </a:prstGeom>
          <a:noFill/>
          <a:ln/>
        </p:spPr>
        <p:txBody>
          <a:bodyPr wrap="square" rtlCol="0"/>
          <a:lstStyle>
            <a:lvl1pPr indent="0" marL="0">
              <a:buNone/>
              <a:defRPr lang="en-US" sz="1200" dirty="0">
                <a:solidFill>
                  <a:schemeClr val="accent6"/>
                </a:solidFill>
              </a:defRPr>
            </a:lvl1pPr>
          </a:lstStyle>
          <a:p>
            <a:pPr indent="0" marL="0">
              <a:buNone/>
            </a:pP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T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IEPILOGO_CHIARO">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rtlCol="0"/>
          <a:lstStyle>
            <a:lvl1pPr indent="0" marL="0">
              <a:buNone/>
              <a:defRPr lang="en-US" sz="1200" b="1" spc="1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rtlCol="0"/>
          <a:lstStyle>
            <a:lvl1pPr indent="0" marL="0">
              <a:buNone/>
              <a:defRPr lang="en-US" sz="3200" b="1" dirty="0">
                <a:solidFill>
                  <a:schemeClr val="tx1"/>
                </a:solidFill>
              </a:defRPr>
            </a:lvl1pPr>
          </a:lstStyle>
          <a:p>
            <a:pPr indent="0" marL="0">
              <a:buNone/>
            </a:pPr>
            <a:endParaRPr lang="en-US" sz="3200" dirty="0"/>
          </a:p>
        </p:txBody>
      </p:sp>
      <p:sp>
        <p:nvSpPr>
          <p:cNvPr id="4" name="Text 0"/>
          <p:cNvSpPr/>
          <p:nvPr>
            <p:ph idx="102" type="body" hasCustomPrompt="1"/>
          </p:nvPr>
        </p:nvSpPr>
        <p:spPr>
          <a:xfrm>
            <a:off x="812902" y="5120640"/>
            <a:ext cx="10565892" cy="731520"/>
          </a:xfrm>
          <a:prstGeom prst="rect">
            <a:avLst/>
          </a:prstGeom>
          <a:noFill/>
          <a:ln/>
        </p:spPr>
        <p:txBody>
          <a:bodyPr wrap="square" rtlCol="0"/>
          <a:lstStyle>
            <a:lvl1pPr indent="0" marL="0">
              <a:buNone/>
              <a:defRPr lang="en-US" sz="2000" b="1" dirty="0">
                <a:solidFill>
                  <a:schemeClr val="tx1"/>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IEPILOGO_SCURO">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rtlCol="0"/>
          <a:lstStyle>
            <a:lvl1pPr indent="0" marL="0">
              <a:buNone/>
              <a:defRPr lang="en-US" sz="1200" b="1" spc="1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4" name="Text 0"/>
          <p:cNvSpPr/>
          <p:nvPr>
            <p:ph idx="102" type="body" hasCustomPrompt="1"/>
          </p:nvPr>
        </p:nvSpPr>
        <p:spPr>
          <a:xfrm>
            <a:off x="812902" y="4983480"/>
            <a:ext cx="10565892" cy="822960"/>
          </a:xfrm>
          <a:prstGeom prst="rect">
            <a:avLst/>
          </a:prstGeom>
          <a:noFill/>
          <a:ln/>
        </p:spPr>
        <p:txBody>
          <a:bodyPr wrap="square" rtlCol="0"/>
          <a:lstStyle>
            <a:lvl1pPr indent="0" marL="0">
              <a:buNone/>
              <a:defRPr lang="en-US" sz="2000" b="1" dirty="0">
                <a:solidFill>
                  <a:schemeClr val="bg1"/>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Freccia copertina"/>
          <p:cNvSpPr/>
          <p:nvPr/>
        </p:nvSpPr>
        <p:spPr>
          <a:xfrm>
            <a:off x="9509760" y="822960"/>
            <a:ext cx="1828800" cy="914400"/>
          </a:xfrm>
          <a:prstGeom prst="rightArrow">
            <a:avLst/>
          </a:prstGeom>
          <a:solidFill>
            <a:schemeClr val="accent1"/>
          </a:solidFill>
          <a:ln/>
        </p:spPr>
      </p:sp>
      <p:sp>
        <p:nvSpPr>
          <p:cNvPr id="3" name="Text 0"/>
          <p:cNvSpPr/>
          <p:nvPr>
            <p:ph idx="100" type="body" hasCustomPrompt="1"/>
          </p:nvPr>
        </p:nvSpPr>
        <p:spPr>
          <a:xfrm>
            <a:off x="812902" y="2331720"/>
            <a:ext cx="10565892"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RICETTARIO OPERATIVO · SPRING BOOT 4.1</a:t>
            </a:r>
            <a:endParaRPr lang="en-US" sz="1200" dirty="0"/>
          </a:p>
        </p:txBody>
      </p:sp>
      <p:sp>
        <p:nvSpPr>
          <p:cNvPr id="4" name="Text 0"/>
          <p:cNvSpPr/>
          <p:nvPr>
            <p:ph idx="101" type="title" hasCustomPrompt="1"/>
          </p:nvPr>
        </p:nvSpPr>
        <p:spPr>
          <a:xfrm>
            <a:off x="812902" y="2697480"/>
            <a:ext cx="9601200" cy="1828800"/>
          </a:xfrm>
          <a:prstGeom prst="rect">
            <a:avLst/>
          </a:prstGeom>
          <a:noFill/>
          <a:ln/>
        </p:spPr>
        <p:txBody>
          <a:bodyPr wrap="square" lIns="0" tIns="0" rIns="0" bIns="0" rtlCol="0" anchor="t"/>
          <a:lstStyle/>
          <a:p>
            <a:pPr indent="0" marL="0">
              <a:buNone/>
            </a:pPr>
            <a:r>
              <a:rPr lang="en-US" sz="5400" b="1" dirty="0">
                <a:solidFill>
                  <a:schemeClr val="bg1"/>
                </a:solidFill>
              </a:rPr>
              <a:t>Gestire le eccezioni lato controller</a:t>
            </a:r>
            <a:endParaRPr lang="en-US" sz="5400" dirty="0"/>
          </a:p>
        </p:txBody>
      </p:sp>
      <p:sp>
        <p:nvSpPr>
          <p:cNvPr id="5" name="Text 0"/>
          <p:cNvSpPr/>
          <p:nvPr>
            <p:ph idx="102" type="body" hasCustomPrompt="1"/>
          </p:nvPr>
        </p:nvSpPr>
        <p:spPr>
          <a:xfrm>
            <a:off x="812902" y="4617720"/>
            <a:ext cx="10565892" cy="457200"/>
          </a:xfrm>
          <a:prstGeom prst="rect">
            <a:avLst/>
          </a:prstGeom>
          <a:noFill/>
          <a:ln/>
        </p:spPr>
        <p:txBody>
          <a:bodyPr wrap="square" lIns="0" tIns="0" rIns="0" bIns="0" rtlCol="0" anchor="t"/>
          <a:lstStyle/>
          <a:p>
            <a:pPr indent="0" marL="0">
              <a:buNone/>
            </a:pPr>
            <a:r>
              <a:rPr lang="en-US" sz="2200" b="1" dirty="0">
                <a:solidFill>
                  <a:schemeClr val="accent2"/>
                </a:solidFill>
              </a:rPr>
              <a:t>Per fare questo → fai questo.</a:t>
            </a:r>
            <a:endParaRPr lang="en-US" sz="2200" dirty="0"/>
          </a:p>
        </p:txBody>
      </p:sp>
      <p:sp>
        <p:nvSpPr>
          <p:cNvPr id="6" name="Text 0"/>
          <p:cNvSpPr/>
          <p:nvPr>
            <p:ph idx="103" type="body" hasCustomPrompt="1"/>
          </p:nvPr>
        </p:nvSpPr>
        <p:spPr>
          <a:xfrm>
            <a:off x="812902" y="5166360"/>
            <a:ext cx="8686800" cy="822960"/>
          </a:xfrm>
          <a:prstGeom prst="rect">
            <a:avLst/>
          </a:prstGeom>
          <a:noFill/>
          <a:ln/>
        </p:spPr>
        <p:txBody>
          <a:bodyPr wrap="square" lIns="0" tIns="0" rIns="0" bIns="0" rtlCol="0" anchor="t"/>
          <a:lstStyle/>
          <a:p>
            <a:pPr indent="0" marL="0">
              <a:buNone/>
            </a:pPr>
            <a:r>
              <a:rPr lang="en-US" sz="1600" dirty="0">
                <a:solidFill>
                  <a:schemeClr val="accent5"/>
                </a:solidFill>
              </a:rPr>
              <a:t>Ricette pronte per scrivere codice corretto anche senza tutta la teoria. Riferimento: il progetto basic (Spring Boot 4.1, Angular 22).</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PRIMA DI INIZIARE</a:t>
            </a: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Sei regole da cui discende tutto</a:t>
            </a:r>
            <a:endParaRPr lang="en-US" sz="3200" dirty="0"/>
          </a:p>
        </p:txBody>
      </p:sp>
      <p:sp>
        <p:nvSpPr>
          <p:cNvPr id="4" name="Regola 1"/>
          <p:cNvSpPr/>
          <p:nvPr/>
        </p:nvSpPr>
        <p:spPr>
          <a:xfrm>
            <a:off x="812902" y="1883664"/>
            <a:ext cx="5206594" cy="1284732"/>
          </a:xfrm>
          <a:prstGeom prst="roundRect">
            <a:avLst>
              <a:gd name="adj" fmla="val 8541"/>
            </a:avLst>
          </a:prstGeom>
          <a:solidFill>
            <a:schemeClr val="bg2"/>
          </a:solidFill>
          <a:ln/>
        </p:spPr>
      </p:sp>
      <p:sp>
        <p:nvSpPr>
          <p:cNvPr id="5" name="Numero regola 1"/>
          <p:cNvSpPr/>
          <p:nvPr/>
        </p:nvSpPr>
        <p:spPr>
          <a:xfrm>
            <a:off x="1087222" y="2176272"/>
            <a:ext cx="457200" cy="457200"/>
          </a:xfrm>
          <a:prstGeom prst="ellipse">
            <a:avLst/>
          </a:prstGeom>
          <a:solidFill>
            <a:schemeClr val="accent1"/>
          </a:solidFill>
          <a:ln/>
        </p:spPr>
      </p:sp>
      <p:sp>
        <p:nvSpPr>
          <p:cNvPr id="6" name="Text 4"/>
          <p:cNvSpPr txBox="1"/>
          <p:nvPr/>
        </p:nvSpPr>
        <p:spPr>
          <a:xfrm>
            <a:off x="1087222" y="2176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773022" y="2112264"/>
            <a:ext cx="4017874" cy="411480"/>
          </a:xfrm>
          <a:prstGeom prst="rect">
            <a:avLst/>
          </a:prstGeom>
          <a:noFill/>
          <a:ln/>
        </p:spPr>
        <p:txBody>
          <a:bodyPr wrap="square" lIns="0" tIns="0" rIns="0" bIns="0" rtlCol="0" anchor="t"/>
          <a:lstStyle/>
          <a:p>
            <a:pPr indent="0" marL="0">
              <a:buNone/>
            </a:pPr>
            <a:r>
              <a:rPr lang="en-US" sz="2000" b="1" dirty="0">
                <a:solidFill>
                  <a:schemeClr val="tx1"/>
                </a:solidFill>
              </a:rPr>
              <a:t>Usa eccezioni unchecked</a:t>
            </a:r>
            <a:endParaRPr lang="en-US" sz="2000" dirty="0"/>
          </a:p>
        </p:txBody>
      </p:sp>
      <p:sp>
        <p:nvSpPr>
          <p:cNvPr id="8" name="Text 6"/>
          <p:cNvSpPr txBox="1"/>
          <p:nvPr/>
        </p:nvSpPr>
        <p:spPr>
          <a:xfrm>
            <a:off x="1773022" y="2569464"/>
            <a:ext cx="4017874" cy="411480"/>
          </a:xfrm>
          <a:prstGeom prst="rect">
            <a:avLst/>
          </a:prstGeom>
          <a:noFill/>
          <a:ln/>
        </p:spPr>
        <p:txBody>
          <a:bodyPr wrap="square" lIns="0" tIns="0" rIns="0" bIns="0" rtlCol="0" anchor="t"/>
          <a:lstStyle/>
          <a:p>
            <a:pPr indent="0" marL="0">
              <a:buNone/>
            </a:pPr>
            <a:r>
              <a:rPr lang="en-US" sz="1400" dirty="0">
                <a:solidFill>
                  <a:schemeClr val="accent4"/>
                </a:solidFill>
              </a:rPr>
              <a:t>Estendi RuntimeException: niente throws a cascata.</a:t>
            </a:r>
            <a:endParaRPr lang="en-US" sz="1400" dirty="0"/>
          </a:p>
        </p:txBody>
      </p:sp>
      <p:sp>
        <p:nvSpPr>
          <p:cNvPr id="9" name="Regola 2"/>
          <p:cNvSpPr/>
          <p:nvPr/>
        </p:nvSpPr>
        <p:spPr>
          <a:xfrm>
            <a:off x="6172200" y="1883664"/>
            <a:ext cx="5206594" cy="1284732"/>
          </a:xfrm>
          <a:prstGeom prst="roundRect">
            <a:avLst>
              <a:gd name="adj" fmla="val 8541"/>
            </a:avLst>
          </a:prstGeom>
          <a:solidFill>
            <a:schemeClr val="bg2"/>
          </a:solidFill>
          <a:ln/>
        </p:spPr>
      </p:sp>
      <p:sp>
        <p:nvSpPr>
          <p:cNvPr id="10" name="Numero regola 2"/>
          <p:cNvSpPr/>
          <p:nvPr/>
        </p:nvSpPr>
        <p:spPr>
          <a:xfrm>
            <a:off x="6446520" y="2176272"/>
            <a:ext cx="457200" cy="457200"/>
          </a:xfrm>
          <a:prstGeom prst="ellipse">
            <a:avLst/>
          </a:prstGeom>
          <a:solidFill>
            <a:schemeClr val="accent1"/>
          </a:solidFill>
          <a:ln/>
        </p:spPr>
      </p:sp>
      <p:sp>
        <p:nvSpPr>
          <p:cNvPr id="11" name="Text 9"/>
          <p:cNvSpPr txBox="1"/>
          <p:nvPr/>
        </p:nvSpPr>
        <p:spPr>
          <a:xfrm>
            <a:off x="6446520" y="21762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132320" y="2112264"/>
            <a:ext cx="4017874" cy="411480"/>
          </a:xfrm>
          <a:prstGeom prst="rect">
            <a:avLst/>
          </a:prstGeom>
          <a:noFill/>
          <a:ln/>
        </p:spPr>
        <p:txBody>
          <a:bodyPr wrap="square" lIns="0" tIns="0" rIns="0" bIns="0" rtlCol="0" anchor="t"/>
          <a:lstStyle/>
          <a:p>
            <a:pPr indent="0" marL="0">
              <a:buNone/>
            </a:pPr>
            <a:r>
              <a:rPr lang="en-US" sz="2000" b="1" dirty="0">
                <a:solidFill>
                  <a:schemeClr val="tx1"/>
                </a:solidFill>
              </a:rPr>
              <a:t>Il service lancia</a:t>
            </a:r>
            <a:endParaRPr lang="en-US" sz="2000" dirty="0"/>
          </a:p>
        </p:txBody>
      </p:sp>
      <p:sp>
        <p:nvSpPr>
          <p:cNvPr id="13" name="Text 11"/>
          <p:cNvSpPr txBox="1"/>
          <p:nvPr/>
        </p:nvSpPr>
        <p:spPr>
          <a:xfrm>
            <a:off x="7132320" y="2569464"/>
            <a:ext cx="4017874" cy="411480"/>
          </a:xfrm>
          <a:prstGeom prst="rect">
            <a:avLst/>
          </a:prstGeom>
          <a:noFill/>
          <a:ln/>
        </p:spPr>
        <p:txBody>
          <a:bodyPr wrap="square" lIns="0" tIns="0" rIns="0" bIns="0" rtlCol="0" anchor="t"/>
          <a:lstStyle/>
          <a:p>
            <a:pPr indent="0" marL="0">
              <a:buNone/>
            </a:pPr>
            <a:r>
              <a:rPr lang="en-US" sz="1400" dirty="0">
                <a:solidFill>
                  <a:schemeClr val="accent4"/>
                </a:solidFill>
              </a:rPr>
              <a:t>Il controller non contiene mai try/catch.</a:t>
            </a:r>
            <a:endParaRPr lang="en-US" sz="1400" dirty="0"/>
          </a:p>
        </p:txBody>
      </p:sp>
      <p:sp>
        <p:nvSpPr>
          <p:cNvPr id="14" name="Regola 3"/>
          <p:cNvSpPr/>
          <p:nvPr/>
        </p:nvSpPr>
        <p:spPr>
          <a:xfrm>
            <a:off x="812902" y="3321101"/>
            <a:ext cx="5206594" cy="1284732"/>
          </a:xfrm>
          <a:prstGeom prst="roundRect">
            <a:avLst>
              <a:gd name="adj" fmla="val 8541"/>
            </a:avLst>
          </a:prstGeom>
          <a:solidFill>
            <a:schemeClr val="bg2"/>
          </a:solidFill>
          <a:ln/>
        </p:spPr>
      </p:sp>
      <p:sp>
        <p:nvSpPr>
          <p:cNvPr id="15" name="Numero regola 3"/>
          <p:cNvSpPr/>
          <p:nvPr/>
        </p:nvSpPr>
        <p:spPr>
          <a:xfrm>
            <a:off x="1087222" y="3613709"/>
            <a:ext cx="457200" cy="457200"/>
          </a:xfrm>
          <a:prstGeom prst="ellipse">
            <a:avLst/>
          </a:prstGeom>
          <a:solidFill>
            <a:schemeClr val="accent1"/>
          </a:solidFill>
          <a:ln/>
        </p:spPr>
      </p:sp>
      <p:sp>
        <p:nvSpPr>
          <p:cNvPr id="16" name="Text 14"/>
          <p:cNvSpPr txBox="1"/>
          <p:nvPr/>
        </p:nvSpPr>
        <p:spPr>
          <a:xfrm>
            <a:off x="1087222" y="3613709"/>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 15"/>
          <p:cNvSpPr txBox="1"/>
          <p:nvPr/>
        </p:nvSpPr>
        <p:spPr>
          <a:xfrm>
            <a:off x="1773022" y="3549701"/>
            <a:ext cx="4017874" cy="411480"/>
          </a:xfrm>
          <a:prstGeom prst="rect">
            <a:avLst/>
          </a:prstGeom>
          <a:noFill/>
          <a:ln/>
        </p:spPr>
        <p:txBody>
          <a:bodyPr wrap="square" lIns="0" tIns="0" rIns="0" bIns="0" rtlCol="0" anchor="t"/>
          <a:lstStyle/>
          <a:p>
            <a:pPr indent="0" marL="0">
              <a:buNone/>
            </a:pPr>
            <a:r>
              <a:rPr lang="en-US" sz="2000" b="1" dirty="0">
                <a:solidFill>
                  <a:schemeClr val="tx1"/>
                </a:solidFill>
              </a:rPr>
              <a:t>L’advice traduce</a:t>
            </a:r>
            <a:endParaRPr lang="en-US" sz="2000" dirty="0"/>
          </a:p>
        </p:txBody>
      </p:sp>
      <p:sp>
        <p:nvSpPr>
          <p:cNvPr id="18" name="Text 16"/>
          <p:cNvSpPr txBox="1"/>
          <p:nvPr/>
        </p:nvSpPr>
        <p:spPr>
          <a:xfrm>
            <a:off x="1773022" y="4006901"/>
            <a:ext cx="4017874" cy="411480"/>
          </a:xfrm>
          <a:prstGeom prst="rect">
            <a:avLst/>
          </a:prstGeom>
          <a:noFill/>
          <a:ln/>
        </p:spPr>
        <p:txBody>
          <a:bodyPr wrap="square" lIns="0" tIns="0" rIns="0" bIns="0" rtlCol="0" anchor="t"/>
          <a:lstStyle/>
          <a:p>
            <a:pPr indent="0" marL="0">
              <a:buNone/>
            </a:pPr>
            <a:r>
              <a:rPr lang="en-US" sz="1400" dirty="0">
                <a:solidFill>
                  <a:schemeClr val="accent4"/>
                </a:solidFill>
              </a:rPr>
              <a:t>Un solo GlobalExceptionHandler per tutta l’API.</a:t>
            </a:r>
            <a:endParaRPr lang="en-US" sz="1400" dirty="0"/>
          </a:p>
        </p:txBody>
      </p:sp>
      <p:sp>
        <p:nvSpPr>
          <p:cNvPr id="19" name="Regola 4"/>
          <p:cNvSpPr/>
          <p:nvPr/>
        </p:nvSpPr>
        <p:spPr>
          <a:xfrm>
            <a:off x="6172200" y="3321101"/>
            <a:ext cx="5206594" cy="1284732"/>
          </a:xfrm>
          <a:prstGeom prst="roundRect">
            <a:avLst>
              <a:gd name="adj" fmla="val 8541"/>
            </a:avLst>
          </a:prstGeom>
          <a:solidFill>
            <a:schemeClr val="bg2"/>
          </a:solidFill>
          <a:ln/>
        </p:spPr>
      </p:sp>
      <p:sp>
        <p:nvSpPr>
          <p:cNvPr id="20" name="Numero regola 4"/>
          <p:cNvSpPr/>
          <p:nvPr/>
        </p:nvSpPr>
        <p:spPr>
          <a:xfrm>
            <a:off x="6446520" y="3613709"/>
            <a:ext cx="457200" cy="457200"/>
          </a:xfrm>
          <a:prstGeom prst="ellipse">
            <a:avLst/>
          </a:prstGeom>
          <a:solidFill>
            <a:schemeClr val="accent1"/>
          </a:solidFill>
          <a:ln/>
        </p:spPr>
      </p:sp>
      <p:sp>
        <p:nvSpPr>
          <p:cNvPr id="21" name="Text 19"/>
          <p:cNvSpPr txBox="1"/>
          <p:nvPr/>
        </p:nvSpPr>
        <p:spPr>
          <a:xfrm>
            <a:off x="6446520" y="3613709"/>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Text 20"/>
          <p:cNvSpPr txBox="1"/>
          <p:nvPr/>
        </p:nvSpPr>
        <p:spPr>
          <a:xfrm>
            <a:off x="7132320" y="3549701"/>
            <a:ext cx="4017874" cy="411480"/>
          </a:xfrm>
          <a:prstGeom prst="rect">
            <a:avLst/>
          </a:prstGeom>
          <a:noFill/>
          <a:ln/>
        </p:spPr>
        <p:txBody>
          <a:bodyPr wrap="square" lIns="0" tIns="0" rIns="0" bIns="0" rtlCol="0" anchor="t"/>
          <a:lstStyle/>
          <a:p>
            <a:pPr indent="0" marL="0">
              <a:buNone/>
            </a:pPr>
            <a:r>
              <a:rPr lang="en-US" sz="2000" b="1" dirty="0">
                <a:solidFill>
                  <a:schemeClr val="tx1"/>
                </a:solidFill>
              </a:rPr>
              <a:t>Un errore, una costante</a:t>
            </a:r>
            <a:endParaRPr lang="en-US" sz="2000" dirty="0"/>
          </a:p>
        </p:txBody>
      </p:sp>
      <p:sp>
        <p:nvSpPr>
          <p:cNvPr id="23" name="Text 21"/>
          <p:cNvSpPr txBox="1"/>
          <p:nvPr/>
        </p:nvSpPr>
        <p:spPr>
          <a:xfrm>
            <a:off x="7132320" y="4006901"/>
            <a:ext cx="4017874" cy="411480"/>
          </a:xfrm>
          <a:prstGeom prst="rect">
            <a:avLst/>
          </a:prstGeom>
          <a:noFill/>
          <a:ln/>
        </p:spPr>
        <p:txBody>
          <a:bodyPr wrap="square" lIns="0" tIns="0" rIns="0" bIns="0" rtlCol="0" anchor="t"/>
          <a:lstStyle/>
          <a:p>
            <a:pPr indent="0" marL="0">
              <a:buNone/>
            </a:pPr>
            <a:r>
              <a:rPr lang="en-US" sz="1400" dirty="0">
                <a:solidFill>
                  <a:schemeClr val="accent4"/>
                </a:solidFill>
              </a:rPr>
              <a:t>Stato, type e title stanno solo in ErrorCode.</a:t>
            </a:r>
            <a:endParaRPr lang="en-US" sz="1400" dirty="0"/>
          </a:p>
        </p:txBody>
      </p:sp>
      <p:sp>
        <p:nvSpPr>
          <p:cNvPr id="24" name="Regola 5"/>
          <p:cNvSpPr/>
          <p:nvPr/>
        </p:nvSpPr>
        <p:spPr>
          <a:xfrm>
            <a:off x="812902" y="4758538"/>
            <a:ext cx="5206594" cy="1284732"/>
          </a:xfrm>
          <a:prstGeom prst="roundRect">
            <a:avLst>
              <a:gd name="adj" fmla="val 8541"/>
            </a:avLst>
          </a:prstGeom>
          <a:solidFill>
            <a:schemeClr val="bg2"/>
          </a:solidFill>
          <a:ln/>
        </p:spPr>
      </p:sp>
      <p:sp>
        <p:nvSpPr>
          <p:cNvPr id="25" name="Numero regola 5"/>
          <p:cNvSpPr/>
          <p:nvPr/>
        </p:nvSpPr>
        <p:spPr>
          <a:xfrm>
            <a:off x="1087222" y="5051146"/>
            <a:ext cx="457200" cy="457200"/>
          </a:xfrm>
          <a:prstGeom prst="ellipse">
            <a:avLst/>
          </a:prstGeom>
          <a:solidFill>
            <a:schemeClr val="accent1"/>
          </a:solidFill>
          <a:ln/>
        </p:spPr>
      </p:sp>
      <p:sp>
        <p:nvSpPr>
          <p:cNvPr id="26" name="Text 24"/>
          <p:cNvSpPr txBox="1"/>
          <p:nvPr/>
        </p:nvSpPr>
        <p:spPr>
          <a:xfrm>
            <a:off x="1087222" y="505114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5"/>
          <p:cNvSpPr txBox="1"/>
          <p:nvPr/>
        </p:nvSpPr>
        <p:spPr>
          <a:xfrm>
            <a:off x="1773022" y="4987138"/>
            <a:ext cx="4017874" cy="411480"/>
          </a:xfrm>
          <a:prstGeom prst="rect">
            <a:avLst/>
          </a:prstGeom>
          <a:noFill/>
          <a:ln/>
        </p:spPr>
        <p:txBody>
          <a:bodyPr wrap="square" lIns="0" tIns="0" rIns="0" bIns="0" rtlCol="0" anchor="t"/>
          <a:lstStyle/>
          <a:p>
            <a:pPr indent="0" marL="0">
              <a:buNone/>
            </a:pPr>
            <a:r>
              <a:rPr lang="en-US" sz="2000" b="1" dirty="0">
                <a:solidFill>
                  <a:schemeClr val="tx1"/>
                </a:solidFill>
              </a:rPr>
              <a:t>Rispondi con ProblemDetail</a:t>
            </a:r>
            <a:endParaRPr lang="en-US" sz="2000" dirty="0"/>
          </a:p>
        </p:txBody>
      </p:sp>
      <p:sp>
        <p:nvSpPr>
          <p:cNvPr id="28" name="Text 26"/>
          <p:cNvSpPr txBox="1"/>
          <p:nvPr/>
        </p:nvSpPr>
        <p:spPr>
          <a:xfrm>
            <a:off x="1773022" y="5444338"/>
            <a:ext cx="4017874" cy="411480"/>
          </a:xfrm>
          <a:prstGeom prst="rect">
            <a:avLst/>
          </a:prstGeom>
          <a:noFill/>
          <a:ln/>
        </p:spPr>
        <p:txBody>
          <a:bodyPr wrap="square" lIns="0" tIns="0" rIns="0" bIns="0" rtlCol="0" anchor="t"/>
          <a:lstStyle/>
          <a:p>
            <a:pPr indent="0" marL="0">
              <a:buNone/>
            </a:pPr>
            <a:r>
              <a:rPr lang="en-US" sz="1400" dirty="0">
                <a:solidFill>
                  <a:schemeClr val="accent4"/>
                </a:solidFill>
              </a:rPr>
              <a:t>Formato RFC 9457, application/problem+json.</a:t>
            </a:r>
            <a:endParaRPr lang="en-US" sz="1400" dirty="0"/>
          </a:p>
        </p:txBody>
      </p:sp>
      <p:sp>
        <p:nvSpPr>
          <p:cNvPr id="29" name="Regola 6"/>
          <p:cNvSpPr/>
          <p:nvPr/>
        </p:nvSpPr>
        <p:spPr>
          <a:xfrm>
            <a:off x="6172200" y="4758538"/>
            <a:ext cx="5206594" cy="1284732"/>
          </a:xfrm>
          <a:prstGeom prst="roundRect">
            <a:avLst>
              <a:gd name="adj" fmla="val 8541"/>
            </a:avLst>
          </a:prstGeom>
          <a:solidFill>
            <a:schemeClr val="bg2"/>
          </a:solidFill>
          <a:ln/>
        </p:spPr>
      </p:sp>
      <p:sp>
        <p:nvSpPr>
          <p:cNvPr id="30" name="Numero regola 6"/>
          <p:cNvSpPr/>
          <p:nvPr/>
        </p:nvSpPr>
        <p:spPr>
          <a:xfrm>
            <a:off x="6446520" y="5051146"/>
            <a:ext cx="457200" cy="457200"/>
          </a:xfrm>
          <a:prstGeom prst="ellipse">
            <a:avLst/>
          </a:prstGeom>
          <a:solidFill>
            <a:schemeClr val="accent1"/>
          </a:solidFill>
          <a:ln/>
        </p:spPr>
      </p:sp>
      <p:sp>
        <p:nvSpPr>
          <p:cNvPr id="31" name="Text 29"/>
          <p:cNvSpPr txBox="1"/>
          <p:nvPr/>
        </p:nvSpPr>
        <p:spPr>
          <a:xfrm>
            <a:off x="6446520" y="505114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2" name="Text 30"/>
          <p:cNvSpPr txBox="1"/>
          <p:nvPr/>
        </p:nvSpPr>
        <p:spPr>
          <a:xfrm>
            <a:off x="7132320" y="4987138"/>
            <a:ext cx="4017874" cy="411480"/>
          </a:xfrm>
          <a:prstGeom prst="rect">
            <a:avLst/>
          </a:prstGeom>
          <a:noFill/>
          <a:ln/>
        </p:spPr>
        <p:txBody>
          <a:bodyPr wrap="square" lIns="0" tIns="0" rIns="0" bIns="0" rtlCol="0" anchor="t"/>
          <a:lstStyle/>
          <a:p>
            <a:pPr indent="0" marL="0">
              <a:buNone/>
            </a:pPr>
            <a:r>
              <a:rPr lang="en-US" sz="2000" b="1" dirty="0">
                <a:solidFill>
                  <a:schemeClr val="tx1"/>
                </a:solidFill>
              </a:rPr>
              <a:t>Stack trace solo nel log</a:t>
            </a:r>
            <a:endParaRPr lang="en-US" sz="2000" dirty="0"/>
          </a:p>
        </p:txBody>
      </p:sp>
      <p:sp>
        <p:nvSpPr>
          <p:cNvPr id="33" name="Text 31"/>
          <p:cNvSpPr txBox="1"/>
          <p:nvPr/>
        </p:nvSpPr>
        <p:spPr>
          <a:xfrm>
            <a:off x="7132320" y="5444338"/>
            <a:ext cx="4017874" cy="411480"/>
          </a:xfrm>
          <a:prstGeom prst="rect">
            <a:avLst/>
          </a:prstGeom>
          <a:noFill/>
          <a:ln/>
        </p:spPr>
        <p:txBody>
          <a:bodyPr wrap="square" lIns="0" tIns="0" rIns="0" bIns="0" rtlCol="0" anchor="t"/>
          <a:lstStyle/>
          <a:p>
            <a:pPr indent="0" marL="0">
              <a:buNone/>
            </a:pPr>
            <a:r>
              <a:rPr lang="en-US" sz="1400" dirty="0">
                <a:solidFill>
                  <a:schemeClr val="accent4"/>
                </a:solidFill>
              </a:rPr>
              <a:t>Al client mai messaggi tecnici, SQL o classi.</a:t>
            </a:r>
            <a:endParaRPr lang="en-US" sz="14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01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Creare l’eccezione di dominio</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Segnalare che una risorsa non esiste o che una regola è violata</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Estendi RuntimeException</a:t>
            </a:r>
            <a:endParaRPr lang="en-US" sz="1400" dirty="0"/>
          </a:p>
          <a:p>
            <a:pPr marL="342900" indent="-342900">
              <a:spcAft>
                <a:spcPts val="600"/>
              </a:spcAft>
              <a:buSzPct val="100000"/>
              <a:buChar char="•"/>
            </a:pPr>
            <a:r>
              <a:rPr lang="en-US" sz="1400" dirty="0">
                <a:solidFill>
                  <a:schemeClr val="accent4"/>
                </a:solidFill>
              </a:rPr>
              <a:t>I dati dell’occorrenza diventano campi</a:t>
            </a:r>
            <a:endParaRPr lang="en-US" sz="1400" dirty="0"/>
          </a:p>
          <a:p>
            <a:pPr marL="342900" indent="-342900">
              <a:spcAft>
                <a:spcPts val="600"/>
              </a:spcAft>
              <a:buSzPct val="100000"/>
              <a:buChar char="•"/>
            </a:pPr>
            <a:r>
              <a:rPr lang="en-US" sz="1400" dirty="0">
                <a:solidFill>
                  <a:schemeClr val="accent4"/>
                </a:solidFill>
              </a:rPr>
              <a:t>Nessun riferimento a HTTP</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class BookNotFoundException</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extends RuntimeException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private final long bookId;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public BookNotFoundException(long bookId)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super("Libro " + bookId + " inesistente");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this.bookId = bookId;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public long getBookId() { return bookId;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errore/BookNotFoundException.java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02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Lanciare l’eccezione</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Interrompere l’operazione quando il dato manca o è duplicato</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Lancia dal service</a:t>
            </a:r>
            <a:endParaRPr lang="en-US" sz="1400" dirty="0"/>
          </a:p>
          <a:p>
            <a:pPr marL="342900" indent="-342900">
              <a:spcAft>
                <a:spcPts val="600"/>
              </a:spcAft>
              <a:buSzPct val="100000"/>
              <a:buChar char="•"/>
            </a:pPr>
            <a:r>
              <a:rPr lang="en-US" sz="1400" dirty="0">
                <a:solidFill>
                  <a:schemeClr val="accent4"/>
                </a:solidFill>
              </a:rPr>
              <a:t>Nel controller nessun try/catch</a:t>
            </a:r>
            <a:endParaRPr lang="en-US" sz="1400" dirty="0"/>
          </a:p>
          <a:p>
            <a:pPr marL="342900" indent="-342900">
              <a:spcAft>
                <a:spcPts val="600"/>
              </a:spcAft>
              <a:buSzPct val="100000"/>
              <a:buChar char="•"/>
            </a:pPr>
            <a:r>
              <a:rPr lang="en-US" sz="1400" dirty="0">
                <a:solidFill>
                  <a:schemeClr val="accent4"/>
                </a:solidFill>
              </a:rPr>
              <a:t>orElseThrow con una lambda</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service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Book findById(long id)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repository.findById(id)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.orElseThrow(() -&gt; new BookNotFoundException(id));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if (repository.existsByIsbn(request.isbn()))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throw new DuplicateIsbnException(request.isbn());</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controller: nessun try/catch</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return BookResponse.from(bookService.findById(id));</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libro/BookService.java, libro/BookController.java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03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Associare stato HTTP e codice</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Decidere stato HTTP, type e title di un errore</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Una costante per ogni errore</a:t>
            </a:r>
            <a:endParaRPr lang="en-US" sz="1400" dirty="0"/>
          </a:p>
          <a:p>
            <a:pPr marL="342900" indent="-342900">
              <a:spcAft>
                <a:spcPts val="600"/>
              </a:spcAft>
              <a:buSzPct val="100000"/>
              <a:buChar char="•"/>
            </a:pPr>
            <a:r>
              <a:rPr lang="en-US" sz="1400" dirty="0">
                <a:solidFill>
                  <a:schemeClr val="accent4"/>
                </a:solidFill>
              </a:rPr>
              <a:t>Il nome della costante genera code e type</a:t>
            </a:r>
            <a:endParaRPr lang="en-US" sz="1400" dirty="0"/>
          </a:p>
          <a:p>
            <a:pPr marL="342900" indent="-342900">
              <a:spcAft>
                <a:spcPts val="600"/>
              </a:spcAft>
              <a:buSzPct val="100000"/>
              <a:buChar char="•"/>
            </a:pPr>
            <a:r>
              <a:rPr lang="en-US" sz="1400" dirty="0">
                <a:solidFill>
                  <a:schemeClr val="accent4"/>
                </a:solidFill>
              </a:rPr>
              <a:t>Mai lo stato dentro l’eccezione</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enum ErrorCode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BOOK_NOT_FOUND(HttpStatus.NOT_FOUND, "Libro inesistente"),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DUPLICATE_ISBN(HttpStatus.CONFLICT, "ISBN già presente"),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DATA_CONFLICT(HttpStatus.CONFLICT, "Dati in conflitto"),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nuovo errore = una riga</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BOOK_ON_LOAN(HttpStatus.CONFLICT, "Libro in prestito"),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BOOK_NOT_FOUND → code "BOOK_NOT_FOUND"</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 type ".../errors/book-not-found"</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errore/ErrorCode.java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04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Tradurre l’eccezione in risposta</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Trasformare l’eccezione in una risposta HTTP corretta</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Un @ExceptionHandler nell’advice</a:t>
            </a:r>
            <a:endParaRPr lang="en-US" sz="1400" dirty="0"/>
          </a:p>
          <a:p>
            <a:pPr marL="342900" indent="-342900">
              <a:spcAft>
                <a:spcPts val="600"/>
              </a:spcAft>
              <a:buSzPct val="100000"/>
              <a:buChar char="•"/>
            </a:pPr>
            <a:r>
              <a:rPr lang="en-US" sz="1400" dirty="0">
                <a:solidFill>
                  <a:schemeClr val="accent4"/>
                </a:solidFill>
              </a:rPr>
              <a:t>Restituisci il ProblemDetail: status e JSON li scrive Spring</a:t>
            </a:r>
            <a:endParaRPr lang="en-US" sz="1400" dirty="0"/>
          </a:p>
          <a:p>
            <a:pPr marL="342900" indent="-342900">
              <a:spcAft>
                <a:spcPts val="600"/>
              </a:spcAft>
              <a:buSzPct val="100000"/>
              <a:buChar char="•"/>
            </a:pPr>
            <a:r>
              <a:rPr lang="en-US" sz="1400" dirty="0">
                <a:solidFill>
                  <a:schemeClr val="accent4"/>
                </a:solidFill>
              </a:rPr>
              <a:t>Costruiscilo con l’helper problem()</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@RestControllerAdvice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class GlobalExceptionHandler</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extends ResponseEntityExceptionHandler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@ExceptionHandler(BookNotFoundException.class)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ProblemDetail handleNotFound(BookNotFoundException ex)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ProblemDetail problem = problem(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ErrorCode.BOOK_NOT_FOUND, ex.getMessage());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problem.setProperty("bookId", ex.getBookId());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problem;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errore/GlobalExceptionHandler.java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05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Passare dati al client</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Dare al client i dati per reagire all’errore</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Dati strutturati: estensioni con setProperty</a:t>
            </a:r>
            <a:endParaRPr lang="en-US" sz="1400" dirty="0"/>
          </a:p>
          <a:p>
            <a:pPr marL="342900" indent="-342900">
              <a:spcAft>
                <a:spcPts val="600"/>
              </a:spcAft>
              <a:buSzPct val="100000"/>
              <a:buChar char="•"/>
            </a:pPr>
            <a:r>
              <a:rPr lang="en-US" sz="1400" dirty="0">
                <a:solidFill>
                  <a:schemeClr val="accent4"/>
                </a:solidFill>
              </a:rPr>
              <a:t>Il client decide su code, mai su detail</a:t>
            </a:r>
            <a:endParaRPr lang="en-US" sz="1400" dirty="0"/>
          </a:p>
          <a:p>
            <a:pPr marL="342900" indent="-342900">
              <a:spcAft>
                <a:spcPts val="600"/>
              </a:spcAft>
              <a:buSzPct val="100000"/>
              <a:buChar char="•"/>
            </a:pPr>
            <a:r>
              <a:rPr lang="en-US" sz="1400" dirty="0">
                <a:solidFill>
                  <a:schemeClr val="accent4"/>
                </a:solidFill>
              </a:rPr>
              <a:t>Mai messaggi tecnici nel detail</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code, type, title: li imposta già problem()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problem.setProperty("bookId", ex.getBookId());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il client riceve: 404 application/problem+json</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"type": ".../errors/book-not-found",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tipo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"title": "Libro inesistente",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fisso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"status": 404,</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"detail": "Libro 999 inesistente",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persona</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"instance": "/api/books/999",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Spring</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"code": "BOOK_NOT_FOUND",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switch</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"bookId": 999 }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dato</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Campi standard RFC 9457: type, title, status, detail, instance · estensioni: code, bookId, isbn, errors</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06 · ECCEZIONI DI DOMINIO</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Aggiungere header alla risposta</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Restituire header extra, come Retry-After</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Restituisci ResponseEntity&lt;ProblemDetail&gt;</a:t>
            </a:r>
            <a:endParaRPr lang="en-US" sz="1400" dirty="0"/>
          </a:p>
          <a:p>
            <a:pPr marL="342900" indent="-342900">
              <a:spcAft>
                <a:spcPts val="600"/>
              </a:spcAft>
              <a:buSzPct val="100000"/>
              <a:buChar char="•"/>
            </a:pPr>
            <a:r>
              <a:rPr lang="en-US" sz="1400" dirty="0">
                <a:solidFill>
                  <a:schemeClr val="accent4"/>
                </a:solidFill>
              </a:rPr>
              <a:t>Lo status resta quello del catalogo</a:t>
            </a:r>
            <a:endParaRPr lang="en-US" sz="1400" dirty="0"/>
          </a:p>
          <a:p>
            <a:pPr marL="342900" indent="-342900">
              <a:spcAft>
                <a:spcPts val="600"/>
              </a:spcAft>
              <a:buSzPct val="100000"/>
              <a:buChar char="•"/>
            </a:pPr>
            <a:r>
              <a:rPr lang="en-US" sz="1400" dirty="0">
                <a:solidFill>
                  <a:schemeClr val="accent4"/>
                </a:solidFill>
              </a:rPr>
              <a:t>Serializzazione e invio restano a Spring</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@ExceptionHandler(BookOnLoanException.class)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ResponseEntity&lt;ProblemDetail&gt; handleOnLoan(</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BookOnLoanException ex)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ProblemDetail problem = problem(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ErrorCode.BOOK_ON_LOAN, ex.getMessage());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ResponseEntity.status(problem.getStatus())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.header("Retry-After", "3600")</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.body(problem);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senza header extra: restituisci ProblemDetail</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errore/GlobalExceptionHandler.java (variante commentata di handleNotFound)</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07 · VALIDAZIONE</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Validare il corpo della richiesta</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Rifiutare un JSON con campi non validi</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Vincoli sui componenti del record</a:t>
            </a:r>
            <a:endParaRPr lang="en-US" sz="1400" dirty="0"/>
          </a:p>
          <a:p>
            <a:pPr marL="342900" indent="-342900">
              <a:spcAft>
                <a:spcPts val="600"/>
              </a:spcAft>
              <a:buSzPct val="100000"/>
              <a:buChar char="•"/>
            </a:pPr>
            <a:r>
              <a:rPr lang="en-US" sz="1400" dirty="0">
                <a:solidFill>
                  <a:schemeClr val="accent4"/>
                </a:solidFill>
              </a:rPr>
              <a:t>@Valid sul parametro @RequestBody</a:t>
            </a:r>
            <a:endParaRPr lang="en-US" sz="1400" dirty="0"/>
          </a:p>
          <a:p>
            <a:pPr marL="342900" indent="-342900">
              <a:spcAft>
                <a:spcPts val="600"/>
              </a:spcAft>
              <a:buSzPct val="100000"/>
              <a:buChar char="•"/>
            </a:pPr>
            <a:r>
              <a:rPr lang="en-US" sz="1400" dirty="0">
                <a:solidFill>
                  <a:schemeClr val="accent4"/>
                </a:solidFill>
              </a:rPr>
              <a:t>@Pattern e @Size accettano null: aggiungi @NotBlank</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record BookRequest(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@NotBlank @Pattern(regexp = "\\d{13}")</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String isbn,</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@NotBlank @Size(max = 200)</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String title,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@NotBlank @Size(max = 100)</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String author)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@PostMapping</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ResponseEntity&lt;BookResponse&gt; create(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@Valid @RequestBody</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BookRequest request) { ...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non valido → MethodArgumentNotValidException</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 400 VALIDATION_FAILED con errors[]</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libro/BookRequest.java, libro/BookController.java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08 · VALIDAZIONE</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Validare path variable e query param</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Vincolare un parametro semplice: id, page, size</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Il vincolo va direttamente sul parametro</a:t>
            </a:r>
            <a:endParaRPr lang="en-US" sz="1400" dirty="0"/>
          </a:p>
          <a:p>
            <a:pPr marL="342900" indent="-342900">
              <a:spcAft>
                <a:spcPts val="600"/>
              </a:spcAft>
              <a:buSzPct val="100000"/>
              <a:buChar char="•"/>
            </a:pPr>
            <a:r>
              <a:rPr lang="en-US" sz="1400" dirty="0">
                <a:solidFill>
                  <a:schemeClr val="accent4"/>
                </a:solidFill>
              </a:rPr>
              <a:t>Attiva la method validation su tutto il metodo, corpo compreso</a:t>
            </a:r>
            <a:endParaRPr lang="en-US" sz="1400" dirty="0"/>
          </a:p>
          <a:p>
            <a:pPr marL="342900" indent="-342900">
              <a:spcAft>
                <a:spcPts val="600"/>
              </a:spcAft>
              <a:buSzPct val="100000"/>
              <a:buChar char="•"/>
            </a:pPr>
            <a:r>
              <a:rPr lang="en-US" sz="1400" dirty="0">
                <a:solidFill>
                  <a:schemeClr val="accent4"/>
                </a:solidFill>
              </a:rPr>
              <a:t>Gli errori arrivano tutti insieme</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@PutMapping("/{id}")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public BookResponse update(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@PathVariable @Positive</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long 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@Valid @RequestBody</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BookRequest request) { ...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stesso schema per i query param</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@RequestParam @Min(0)</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int page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non valido → HandlerMethodValidationException</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 override handleHandlerMethodValidationException</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 stesso 400 VALIDATION_FAILED con errors[]</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libro/BookController.java · PUT /api/books/-1 → errors su id e isbn</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09 · VALIDAZIONE</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Uniformare la risposta di validazione</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Dare al client la stessa forma per ogni errore di validazione</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Override del metodo ereditato</a:t>
            </a:r>
            <a:endParaRPr lang="en-US" sz="1400" dirty="0"/>
          </a:p>
          <a:p>
            <a:pPr marL="342900" indent="-342900">
              <a:spcAft>
                <a:spcPts val="600"/>
              </a:spcAft>
              <a:buSzPct val="100000"/>
              <a:buChar char="•"/>
            </a:pPr>
            <a:r>
              <a:rPr lang="en-US" sz="1400" dirty="0">
                <a:solidFill>
                  <a:schemeClr val="accent4"/>
                </a:solidFill>
              </a:rPr>
              <a:t>Chiudi con handleExceptionInternal</a:t>
            </a:r>
            <a:endParaRPr lang="en-US" sz="1400" dirty="0"/>
          </a:p>
          <a:p>
            <a:pPr marL="342900" indent="-342900">
              <a:spcAft>
                <a:spcPts val="600"/>
              </a:spcAft>
              <a:buSzPct val="100000"/>
              <a:buChar char="•"/>
            </a:pPr>
            <a:r>
              <a:rPr lang="en-US" sz="1400" dirty="0">
                <a:solidFill>
                  <a:schemeClr val="accent4"/>
                </a:solidFill>
              </a:rPr>
              <a:t>Ogni override usa validationProblem()</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@Override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protected ResponseEntity&lt;Object&gt; handleMethodArgumentNotValid(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MethodArgumentNotValidException ex, HttpHeaders headers,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HttpStatusCode status, WebRequest request)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var errors = ex.getBindingResult().getFieldErrors().stream()</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.map(f -&gt; fieldError(f.getField(),</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f.getDefaultMessage()))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.toList();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handleExceptionInternal(ex,</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validationProblem(ex.getBody(), errors),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headers, status, request);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errore/GlobalExceptionHandler.java · stesso schema in handleHandlerMethodValidationException</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10 · RETI DI SICUREZZA</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Proteggersi da database e bug</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Non esporre mai dettagli interni, neanche su errori imprevisti</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Vincolo del database violato: 409</a:t>
            </a:r>
            <a:endParaRPr lang="en-US" sz="1400" dirty="0"/>
          </a:p>
          <a:p>
            <a:pPr marL="342900" indent="-342900">
              <a:spcAft>
                <a:spcPts val="600"/>
              </a:spcAft>
              <a:buSzPct val="100000"/>
              <a:buChar char="•"/>
            </a:pPr>
            <a:r>
              <a:rPr lang="en-US" sz="1400" dirty="0">
                <a:solidFill>
                  <a:schemeClr val="accent4"/>
                </a:solidFill>
              </a:rPr>
              <a:t>Qualunque altra eccezione: 500 generico</a:t>
            </a:r>
            <a:endParaRPr lang="en-US" sz="1400" dirty="0"/>
          </a:p>
          <a:p>
            <a:pPr marL="342900" indent="-342900">
              <a:spcAft>
                <a:spcPts val="600"/>
              </a:spcAft>
              <a:buSzPct val="100000"/>
              <a:buChar char="•"/>
            </a:pPr>
            <a:r>
              <a:rPr lang="en-US" sz="1400" dirty="0">
                <a:solidFill>
                  <a:schemeClr val="accent4"/>
                </a:solidFill>
              </a:rPr>
              <a:t>Lo stack trace va solo nel log</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@ExceptionHandler(DataIntegrityViolationException.class)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ProblemDetail handleDataIntegrity(</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DataIntegrityViolationException ex)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mai il messaggio SQL al client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problem(ErrorCode.DATA_CONFLICT,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"Dati in conflitto");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@ExceptionHandler(Exception.class)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ProblemDetail handleUnexpected(Exception ex)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log.error("Errore inatteso", ex);</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return problem(ErrorCode.INTERNAL_ERROR, "Errore inatteso");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errore/GlobalExceptionHandler.java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11 · LOGGING</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Loggare un errore</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Avere nel log tutto ciò che serve per capire il guasto</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SLF4J in tutto il progetto</a:t>
            </a:r>
            <a:endParaRPr lang="en-US" sz="1400" dirty="0"/>
          </a:p>
          <a:p>
            <a:pPr marL="342900" indent="-342900">
              <a:spcAft>
                <a:spcPts val="600"/>
              </a:spcAft>
              <a:buSzPct val="100000"/>
              <a:buChar char="•"/>
            </a:pPr>
            <a:r>
              <a:rPr lang="en-US" sz="1400" dirty="0">
                <a:solidFill>
                  <a:schemeClr val="accent4"/>
                </a:solidFill>
              </a:rPr>
              <a:t>L’eccezione è l’ultimo argomento</a:t>
            </a:r>
            <a:endParaRPr lang="en-US" sz="1400" dirty="0"/>
          </a:p>
          <a:p>
            <a:pPr marL="342900" indent="-342900">
              <a:spcAft>
                <a:spcPts val="600"/>
              </a:spcAft>
              <a:buSzPct val="100000"/>
              <a:buChar char="•"/>
            </a:pPr>
            <a:r>
              <a:rPr lang="en-US" sz="1400" dirty="0">
                <a:solidFill>
                  <a:schemeClr val="accent4"/>
                </a:solidFill>
              </a:rPr>
              <a:t>error solo per l’inatteso, un solo log per errore</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private static final Logger log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LoggerFactory.getLogger(GlobalExceptionHandler.class);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log.error("Errore inatteso", ex);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ok: stack trace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log.error("Libro {} in errore", id, ex);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ok: + parametro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log.debug("Libro non trovato: {}", id);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ok: previsto</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log.error("Errore: " + ex);</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no: niente stack</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log.error(ex.getMessage());</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no: niente stack</a:t>
            </a:r>
            <a:endParaRPr lang="en-US" sz="1200" dirty="0"/>
          </a:p>
          <a:p>
            <a:pPr indent="0" marL="0">
              <a:lnSpc>
                <a:spcPct val="130000"/>
              </a:lnSpc>
              <a:buNone/>
            </a:pPr>
            <a:r>
              <a:rPr lang="en-US" sz="1200" dirty="0">
                <a:solidFill>
                  <a:schemeClr val="accent2"/>
                </a:solidFill>
                <a:latin typeface="Courier New" pitchFamily="34" charset="0"/>
                <a:ea typeface="Courier New" pitchFamily="34" charset="-122"/>
                <a:cs typeface="Courier New" pitchFamily="34" charset="-120"/>
              </a:rPr>
              <a:t>log.error(ex.getMessage(), ex.getCause());</a:t>
            </a:r>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no: causa null</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Le righe in arancio sono da evitare: perdono lo stack trace o la causa</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iquadro problema"/>
          <p:cNvSpPr/>
          <p:nvPr/>
        </p:nvSpPr>
        <p:spPr>
          <a:xfrm>
            <a:off x="812902" y="1883664"/>
            <a:ext cx="3301898" cy="3959352"/>
          </a:xfrm>
          <a:prstGeom prst="roundRect">
            <a:avLst>
              <a:gd name="adj" fmla="val 4154"/>
            </a:avLst>
          </a:prstGeom>
          <a:solidFill>
            <a:schemeClr val="bg2"/>
          </a:solidFill>
          <a:ln/>
        </p:spPr>
      </p:sp>
      <p:sp>
        <p:nvSpPr>
          <p:cNvPr id="3" name="Etichetta problema"/>
          <p:cNvSpPr txBox="1"/>
          <p:nvPr/>
        </p:nvSpPr>
        <p:spPr>
          <a:xfrm>
            <a:off x="10671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1"/>
                </a:solidFill>
              </a:rPr>
              <a:t>PER FARE QUESTO</a:t>
            </a:r>
            <a:endParaRPr lang="en-US" sz="1200" dirty="0"/>
          </a:p>
        </p:txBody>
      </p:sp>
      <p:sp>
        <p:nvSpPr>
          <p:cNvPr id="4" name="Freccia"/>
          <p:cNvSpPr/>
          <p:nvPr/>
        </p:nvSpPr>
        <p:spPr>
          <a:xfrm>
            <a:off x="4317797" y="3758184"/>
            <a:ext cx="405994" cy="228600"/>
          </a:xfrm>
          <a:prstGeom prst="rightArrow">
            <a:avLst/>
          </a:prstGeom>
          <a:solidFill>
            <a:schemeClr val="accent1"/>
          </a:solidFill>
          <a:ln/>
        </p:spPr>
      </p:sp>
      <p:sp>
        <p:nvSpPr>
          <p:cNvPr id="5" name="Riquadro codice"/>
          <p:cNvSpPr/>
          <p:nvPr/>
        </p:nvSpPr>
        <p:spPr>
          <a:xfrm>
            <a:off x="4927702" y="1883664"/>
            <a:ext cx="6452006" cy="3959352"/>
          </a:xfrm>
          <a:prstGeom prst="roundRect">
            <a:avLst>
              <a:gd name="adj" fmla="val 3464"/>
            </a:avLst>
          </a:prstGeom>
          <a:solidFill>
            <a:schemeClr val="accent3"/>
          </a:solidFill>
          <a:ln/>
        </p:spPr>
      </p:sp>
      <p:sp>
        <p:nvSpPr>
          <p:cNvPr id="6" name="Etichetta codice"/>
          <p:cNvSpPr txBox="1"/>
          <p:nvPr/>
        </p:nvSpPr>
        <p:spPr>
          <a:xfrm>
            <a:off x="5181905" y="2139696"/>
            <a:ext cx="2743200" cy="274320"/>
          </a:xfrm>
          <a:prstGeom prst="rect">
            <a:avLst/>
          </a:prstGeom>
          <a:noFill/>
          <a:ln/>
        </p:spPr>
        <p:txBody>
          <a:bodyPr wrap="square" lIns="0" tIns="0" rIns="0" bIns="0" rtlCol="0" anchor="ctr"/>
          <a:lstStyle/>
          <a:p>
            <a:pPr indent="0" marL="0">
              <a:buNone/>
            </a:pPr>
            <a:r>
              <a:rPr lang="en-US" sz="1200" b="1" spc="100" kern="0" dirty="0">
                <a:solidFill>
                  <a:schemeClr val="accent2"/>
                </a:solidFill>
              </a:rPr>
              <a:t>FAI QUESTO</a:t>
            </a:r>
            <a:endParaRPr lang="en-US" sz="1200" dirty="0"/>
          </a:p>
        </p:txBody>
      </p:sp>
      <p:sp>
        <p:nvSpPr>
          <p:cNvPr id="7"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RICETTA 12 · CLIENT ANGULAR</a:t>
            </a:r>
            <a:endParaRPr lang="en-US" sz="1200" dirty="0"/>
          </a:p>
        </p:txBody>
      </p:sp>
      <p:sp>
        <p:nvSpPr>
          <p:cNvPr id="8"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Leggere l’errore in Angular</a:t>
            </a:r>
            <a:endParaRPr lang="en-US" sz="3200" dirty="0"/>
          </a:p>
        </p:txBody>
      </p:sp>
      <p:sp>
        <p:nvSpPr>
          <p:cNvPr id="9" name="Text 0"/>
          <p:cNvSpPr/>
          <p:nvPr>
            <p:ph idx="102" type="body" hasCustomPrompt="1"/>
          </p:nvPr>
        </p:nvSpPr>
        <p:spPr>
          <a:xfrm>
            <a:off x="1067105" y="2560320"/>
            <a:ext cx="2794406" cy="1280160"/>
          </a:xfrm>
          <a:prstGeom prst="rect">
            <a:avLst/>
          </a:prstGeom>
          <a:noFill/>
          <a:ln/>
        </p:spPr>
        <p:txBody>
          <a:bodyPr wrap="square" lIns="0" tIns="0" rIns="0" bIns="0" rtlCol="0" anchor="t"/>
          <a:lstStyle/>
          <a:p>
            <a:pPr indent="0" marL="0">
              <a:buNone/>
            </a:pPr>
            <a:r>
              <a:rPr lang="en-US" sz="1800" b="1" dirty="0">
                <a:solidFill>
                  <a:schemeClr val="tx1"/>
                </a:solidFill>
              </a:rPr>
              <a:t>Mostrare all’utente l’errore giusto</a:t>
            </a:r>
            <a:endParaRPr lang="en-US" sz="1800" dirty="0"/>
          </a:p>
        </p:txBody>
      </p:sp>
      <p:sp>
        <p:nvSpPr>
          <p:cNvPr id="10" name="Text 0"/>
          <p:cNvSpPr/>
          <p:nvPr>
            <p:ph idx="103" type="body" hasCustomPrompt="1"/>
          </p:nvPr>
        </p:nvSpPr>
        <p:spPr>
          <a:xfrm>
            <a:off x="1067105" y="3931920"/>
            <a:ext cx="2794406" cy="1783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accent4"/>
                </a:solidFill>
              </a:rPr>
              <a:t>Un interceptor converte HttpErrorResponse in ProblemDetail</a:t>
            </a:r>
            <a:endParaRPr lang="en-US" sz="1400" dirty="0"/>
          </a:p>
          <a:p>
            <a:pPr marL="342900" indent="-342900">
              <a:spcAft>
                <a:spcPts val="600"/>
              </a:spcAft>
              <a:buSzPct val="100000"/>
              <a:buChar char="•"/>
            </a:pPr>
            <a:r>
              <a:rPr lang="en-US" sz="1400" dirty="0">
                <a:solidFill>
                  <a:schemeClr val="accent4"/>
                </a:solidFill>
              </a:rPr>
              <a:t>Decidi su code; se manca, su status</a:t>
            </a:r>
            <a:endParaRPr lang="en-US" sz="1400" dirty="0"/>
          </a:p>
          <a:p>
            <a:pPr marL="342900" indent="-342900">
              <a:spcAft>
                <a:spcPts val="600"/>
              </a:spcAft>
              <a:buSzPct val="100000"/>
              <a:buChar char="•"/>
            </a:pPr>
            <a:r>
              <a:rPr lang="en-US" sz="1400" dirty="0">
                <a:solidFill>
                  <a:schemeClr val="accent4"/>
                </a:solidFill>
              </a:rPr>
              <a:t>status 0: server non raggiungibile</a:t>
            </a:r>
            <a:endParaRPr lang="en-US" sz="1400" dirty="0"/>
          </a:p>
        </p:txBody>
      </p:sp>
      <p:sp>
        <p:nvSpPr>
          <p:cNvPr id="11" name="Text 0"/>
          <p:cNvSpPr/>
          <p:nvPr>
            <p:ph idx="104" type="body" hasCustomPrompt="1"/>
          </p:nvPr>
        </p:nvSpPr>
        <p:spPr>
          <a:xfrm>
            <a:off x="5181905" y="2560320"/>
            <a:ext cx="5943600" cy="3154680"/>
          </a:xfrm>
          <a:prstGeom prst="rect">
            <a:avLst/>
          </a:prstGeom>
          <a:noFill/>
          <a:ln/>
        </p:spPr>
        <p:txBody>
          <a:bodyPr wrap="square" lIns="0" tIns="0" rIns="0" bIns="0" rtlCol="0" anchor="t"/>
          <a:lstStyle/>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export const errorInterceptor: HttpInterceptorFn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(req, next) =&gt; next(req).pipe(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catchError((error: HttpErrorResponse) =&gt;</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throwError((): ProblemDetail =&gt; error.status === 0</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 { status: 0, title: 'Server non raggiungibile'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 { status: error.status, ...error.error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componente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error: (p: ProblemDetail) =&gt; {</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if (p.code === 'DUPLICATE_ISBN') markIsbnDuplicate();</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  else this.error.set(p);  </a:t>
            </a:r>
            <a:pPr indent="0" marL="0">
              <a:lnSpc>
                <a:spcPct val="130000"/>
              </a:lnSpc>
              <a:buNone/>
            </a:pPr>
            <a:r>
              <a:rPr lang="en-US" sz="1200" dirty="0">
                <a:solidFill>
                  <a:schemeClr val="accent5"/>
                </a:solidFill>
                <a:latin typeface="Courier New" pitchFamily="34" charset="0"/>
                <a:ea typeface="Courier New" pitchFamily="34" charset="-122"/>
                <a:cs typeface="Courier New" pitchFamily="34" charset="-120"/>
              </a:rPr>
              <a:t>// title, detail, errors[]</a:t>
            </a:r>
            <a:endParaRPr lang="en-US" sz="1200" dirty="0"/>
          </a:p>
          <a:p>
            <a:pPr indent="0" marL="0">
              <a:lnSpc>
                <a:spcPct val="130000"/>
              </a:lnSpc>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p:txBody>
      </p:sp>
      <p:sp>
        <p:nvSpPr>
          <p:cNvPr id="12" name="Text 0"/>
          <p:cNvSpPr/>
          <p:nvPr>
            <p:ph idx="105" type="body" hasCustomPrompt="1"/>
          </p:nvPr>
        </p:nvSpPr>
        <p:spPr>
          <a:xfrm>
            <a:off x="812902" y="6263640"/>
            <a:ext cx="9875520" cy="274320"/>
          </a:xfrm>
          <a:prstGeom prst="rect">
            <a:avLst/>
          </a:prstGeom>
          <a:noFill/>
          <a:ln/>
        </p:spPr>
        <p:txBody>
          <a:bodyPr wrap="square" lIns="0" tIns="0" rIns="0" bIns="0" rtlCol="0" anchor="t"/>
          <a:lstStyle/>
          <a:p>
            <a:pPr indent="0" marL="0">
              <a:buNone/>
            </a:pPr>
            <a:r>
              <a:rPr lang="en-US" sz="1200" dirty="0">
                <a:solidFill>
                  <a:schemeClr val="accent6"/>
                </a:solidFill>
              </a:rPr>
              <a:t>basic · frontend/src/app/error.interceptor.ts, app.ts · registrazione in app.config.ts</a:t>
            </a:r>
            <a:endParaRPr lang="en-US" sz="12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RIEPILOGO · CHECKLIST</a:t>
            </a: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Aggiungere un nuovo errore in cinque passi</a:t>
            </a:r>
            <a:endParaRPr lang="en-US" sz="3200" dirty="0"/>
          </a:p>
        </p:txBody>
      </p:sp>
      <p:sp>
        <p:nvSpPr>
          <p:cNvPr id="4" name="Passo 1"/>
          <p:cNvSpPr/>
          <p:nvPr/>
        </p:nvSpPr>
        <p:spPr>
          <a:xfrm>
            <a:off x="812902" y="1883664"/>
            <a:ext cx="1991015" cy="2743200"/>
          </a:xfrm>
          <a:prstGeom prst="roundRect">
            <a:avLst>
              <a:gd name="adj" fmla="val 5511"/>
            </a:avLst>
          </a:prstGeom>
          <a:solidFill>
            <a:schemeClr val="bg1"/>
          </a:solidFill>
          <a:ln/>
        </p:spPr>
      </p:sp>
      <p:sp>
        <p:nvSpPr>
          <p:cNvPr id="5" name="Text 3"/>
          <p:cNvSpPr txBox="1"/>
          <p:nvPr/>
        </p:nvSpPr>
        <p:spPr>
          <a:xfrm>
            <a:off x="1014070" y="2066544"/>
            <a:ext cx="1588679" cy="640080"/>
          </a:xfrm>
          <a:prstGeom prst="rect">
            <a:avLst/>
          </a:prstGeom>
          <a:noFill/>
          <a:ln/>
        </p:spPr>
        <p:txBody>
          <a:bodyPr wrap="square" lIns="0" tIns="0" rIns="0" bIns="0" rtlCol="0" anchor="t"/>
          <a:lstStyle/>
          <a:p>
            <a:pPr indent="0" marL="0">
              <a:buNone/>
            </a:pPr>
            <a:r>
              <a:rPr lang="en-US" sz="4000" b="1" dirty="0">
                <a:solidFill>
                  <a:schemeClr val="accent1"/>
                </a:solidFill>
              </a:rPr>
              <a:t>1</a:t>
            </a:r>
            <a:endParaRPr lang="en-US" sz="4000" dirty="0"/>
          </a:p>
        </p:txBody>
      </p:sp>
      <p:sp>
        <p:nvSpPr>
          <p:cNvPr id="6" name="Text 4"/>
          <p:cNvSpPr txBox="1"/>
          <p:nvPr/>
        </p:nvSpPr>
        <p:spPr>
          <a:xfrm>
            <a:off x="1014070" y="2752344"/>
            <a:ext cx="1588679" cy="411480"/>
          </a:xfrm>
          <a:prstGeom prst="rect">
            <a:avLst/>
          </a:prstGeom>
          <a:noFill/>
          <a:ln/>
        </p:spPr>
        <p:txBody>
          <a:bodyPr wrap="square" lIns="0" tIns="0" rIns="0" bIns="0" rtlCol="0" anchor="t"/>
          <a:lstStyle/>
          <a:p>
            <a:pPr indent="0" marL="0">
              <a:buNone/>
            </a:pPr>
            <a:r>
              <a:rPr lang="en-US" sz="1800" b="1" dirty="0">
                <a:solidFill>
                  <a:schemeClr val="tx1"/>
                </a:solidFill>
              </a:rPr>
              <a:t>Eccezione</a:t>
            </a:r>
            <a:endParaRPr lang="en-US" sz="1800" dirty="0"/>
          </a:p>
        </p:txBody>
      </p:sp>
      <p:sp>
        <p:nvSpPr>
          <p:cNvPr id="7" name="Text 5"/>
          <p:cNvSpPr txBox="1"/>
          <p:nvPr/>
        </p:nvSpPr>
        <p:spPr>
          <a:xfrm>
            <a:off x="1014070" y="3209544"/>
            <a:ext cx="1588679" cy="1280160"/>
          </a:xfrm>
          <a:prstGeom prst="rect">
            <a:avLst/>
          </a:prstGeom>
          <a:noFill/>
          <a:ln/>
        </p:spPr>
        <p:txBody>
          <a:bodyPr wrap="square" lIns="0" tIns="0" rIns="0" bIns="0" rtlCol="0" anchor="t"/>
          <a:lstStyle/>
          <a:p>
            <a:pPr indent="0" marL="0">
              <a:buNone/>
            </a:pPr>
            <a:r>
              <a:rPr lang="en-US" sz="1400" dirty="0">
                <a:solidFill>
                  <a:schemeClr val="accent4"/>
                </a:solidFill>
              </a:rPr>
              <a:t>Unchecked, con i dati dell’occorrenza come campi.</a:t>
            </a:r>
            <a:endParaRPr lang="en-US" sz="1400" dirty="0"/>
          </a:p>
        </p:txBody>
      </p:sp>
      <p:sp>
        <p:nvSpPr>
          <p:cNvPr id="8" name="Passo 2"/>
          <p:cNvSpPr/>
          <p:nvPr/>
        </p:nvSpPr>
        <p:spPr>
          <a:xfrm>
            <a:off x="2956621" y="1883664"/>
            <a:ext cx="1991015" cy="2743200"/>
          </a:xfrm>
          <a:prstGeom prst="roundRect">
            <a:avLst>
              <a:gd name="adj" fmla="val 5511"/>
            </a:avLst>
          </a:prstGeom>
          <a:solidFill>
            <a:schemeClr val="bg1"/>
          </a:solidFill>
          <a:ln/>
        </p:spPr>
      </p:sp>
      <p:sp>
        <p:nvSpPr>
          <p:cNvPr id="9" name="Text 7"/>
          <p:cNvSpPr txBox="1"/>
          <p:nvPr/>
        </p:nvSpPr>
        <p:spPr>
          <a:xfrm>
            <a:off x="3157789" y="2066544"/>
            <a:ext cx="1588679" cy="640080"/>
          </a:xfrm>
          <a:prstGeom prst="rect">
            <a:avLst/>
          </a:prstGeom>
          <a:noFill/>
          <a:ln/>
        </p:spPr>
        <p:txBody>
          <a:bodyPr wrap="square" lIns="0" tIns="0" rIns="0" bIns="0" rtlCol="0" anchor="t"/>
          <a:lstStyle/>
          <a:p>
            <a:pPr indent="0" marL="0">
              <a:buNone/>
            </a:pPr>
            <a:r>
              <a:rPr lang="en-US" sz="4000" b="1" dirty="0">
                <a:solidFill>
                  <a:schemeClr val="accent1"/>
                </a:solidFill>
              </a:rPr>
              <a:t>2</a:t>
            </a:r>
            <a:endParaRPr lang="en-US" sz="4000" dirty="0"/>
          </a:p>
        </p:txBody>
      </p:sp>
      <p:sp>
        <p:nvSpPr>
          <p:cNvPr id="10" name="Text 8"/>
          <p:cNvSpPr txBox="1"/>
          <p:nvPr/>
        </p:nvSpPr>
        <p:spPr>
          <a:xfrm>
            <a:off x="3157789" y="2752344"/>
            <a:ext cx="1588679" cy="411480"/>
          </a:xfrm>
          <a:prstGeom prst="rect">
            <a:avLst/>
          </a:prstGeom>
          <a:noFill/>
          <a:ln/>
        </p:spPr>
        <p:txBody>
          <a:bodyPr wrap="square" lIns="0" tIns="0" rIns="0" bIns="0" rtlCol="0" anchor="t"/>
          <a:lstStyle/>
          <a:p>
            <a:pPr indent="0" marL="0">
              <a:buNone/>
            </a:pPr>
            <a:r>
              <a:rPr lang="en-US" sz="1800" b="1" dirty="0">
                <a:solidFill>
                  <a:schemeClr val="tx1"/>
                </a:solidFill>
              </a:rPr>
              <a:t>Costante</a:t>
            </a:r>
            <a:endParaRPr lang="en-US" sz="1800" dirty="0"/>
          </a:p>
        </p:txBody>
      </p:sp>
      <p:sp>
        <p:nvSpPr>
          <p:cNvPr id="11" name="Text 9"/>
          <p:cNvSpPr txBox="1"/>
          <p:nvPr/>
        </p:nvSpPr>
        <p:spPr>
          <a:xfrm>
            <a:off x="3157789" y="3209544"/>
            <a:ext cx="1588679" cy="1280160"/>
          </a:xfrm>
          <a:prstGeom prst="rect">
            <a:avLst/>
          </a:prstGeom>
          <a:noFill/>
          <a:ln/>
        </p:spPr>
        <p:txBody>
          <a:bodyPr wrap="square" lIns="0" tIns="0" rIns="0" bIns="0" rtlCol="0" anchor="t"/>
          <a:lstStyle/>
          <a:p>
            <a:pPr indent="0" marL="0">
              <a:buNone/>
            </a:pPr>
            <a:r>
              <a:rPr lang="en-US" sz="1400" dirty="0">
                <a:solidFill>
                  <a:schemeClr val="accent4"/>
                </a:solidFill>
              </a:rPr>
              <a:t>Una riga in ErrorCode: stato e title.</a:t>
            </a:r>
            <a:endParaRPr lang="en-US" sz="1400" dirty="0"/>
          </a:p>
        </p:txBody>
      </p:sp>
      <p:sp>
        <p:nvSpPr>
          <p:cNvPr id="12" name="Passo 3"/>
          <p:cNvSpPr/>
          <p:nvPr/>
        </p:nvSpPr>
        <p:spPr>
          <a:xfrm>
            <a:off x="5100340" y="1883664"/>
            <a:ext cx="1991015" cy="2743200"/>
          </a:xfrm>
          <a:prstGeom prst="roundRect">
            <a:avLst>
              <a:gd name="adj" fmla="val 5511"/>
            </a:avLst>
          </a:prstGeom>
          <a:solidFill>
            <a:schemeClr val="bg1"/>
          </a:solidFill>
          <a:ln/>
        </p:spPr>
      </p:sp>
      <p:sp>
        <p:nvSpPr>
          <p:cNvPr id="13" name="Text 11"/>
          <p:cNvSpPr txBox="1"/>
          <p:nvPr/>
        </p:nvSpPr>
        <p:spPr>
          <a:xfrm>
            <a:off x="5301508" y="2066544"/>
            <a:ext cx="1588679" cy="64008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14" name="Text 12"/>
          <p:cNvSpPr txBox="1"/>
          <p:nvPr/>
        </p:nvSpPr>
        <p:spPr>
          <a:xfrm>
            <a:off x="5301508" y="2752344"/>
            <a:ext cx="1588679" cy="411480"/>
          </a:xfrm>
          <a:prstGeom prst="rect">
            <a:avLst/>
          </a:prstGeom>
          <a:noFill/>
          <a:ln/>
        </p:spPr>
        <p:txBody>
          <a:bodyPr wrap="square" lIns="0" tIns="0" rIns="0" bIns="0" rtlCol="0" anchor="t"/>
          <a:lstStyle/>
          <a:p>
            <a:pPr indent="0" marL="0">
              <a:buNone/>
            </a:pPr>
            <a:r>
              <a:rPr lang="en-US" sz="1800" b="1" dirty="0">
                <a:solidFill>
                  <a:schemeClr val="tx1"/>
                </a:solidFill>
              </a:rPr>
              <a:t>Lancio</a:t>
            </a:r>
            <a:endParaRPr lang="en-US" sz="1800" dirty="0"/>
          </a:p>
        </p:txBody>
      </p:sp>
      <p:sp>
        <p:nvSpPr>
          <p:cNvPr id="15" name="Text 13"/>
          <p:cNvSpPr txBox="1"/>
          <p:nvPr/>
        </p:nvSpPr>
        <p:spPr>
          <a:xfrm>
            <a:off x="5301508" y="3209544"/>
            <a:ext cx="1588679" cy="1280160"/>
          </a:xfrm>
          <a:prstGeom prst="rect">
            <a:avLst/>
          </a:prstGeom>
          <a:noFill/>
          <a:ln/>
        </p:spPr>
        <p:txBody>
          <a:bodyPr wrap="square" lIns="0" tIns="0" rIns="0" bIns="0" rtlCol="0" anchor="t"/>
          <a:lstStyle/>
          <a:p>
            <a:pPr indent="0" marL="0">
              <a:buNone/>
            </a:pPr>
            <a:r>
              <a:rPr lang="en-US" sz="1400" dirty="0">
                <a:solidFill>
                  <a:schemeClr val="accent4"/>
                </a:solidFill>
              </a:rPr>
              <a:t>Un throw nel service, dove la regola si verifica.</a:t>
            </a:r>
            <a:endParaRPr lang="en-US" sz="1400" dirty="0"/>
          </a:p>
        </p:txBody>
      </p:sp>
      <p:sp>
        <p:nvSpPr>
          <p:cNvPr id="16" name="Passo 4"/>
          <p:cNvSpPr/>
          <p:nvPr/>
        </p:nvSpPr>
        <p:spPr>
          <a:xfrm>
            <a:off x="7244060" y="1883664"/>
            <a:ext cx="1991015" cy="2743200"/>
          </a:xfrm>
          <a:prstGeom prst="roundRect">
            <a:avLst>
              <a:gd name="adj" fmla="val 5511"/>
            </a:avLst>
          </a:prstGeom>
          <a:solidFill>
            <a:schemeClr val="bg1"/>
          </a:solidFill>
          <a:ln/>
        </p:spPr>
      </p:sp>
      <p:sp>
        <p:nvSpPr>
          <p:cNvPr id="17" name="Text 15"/>
          <p:cNvSpPr txBox="1"/>
          <p:nvPr/>
        </p:nvSpPr>
        <p:spPr>
          <a:xfrm>
            <a:off x="7445228" y="2066544"/>
            <a:ext cx="1588679" cy="640080"/>
          </a:xfrm>
          <a:prstGeom prst="rect">
            <a:avLst/>
          </a:prstGeom>
          <a:noFill/>
          <a:ln/>
        </p:spPr>
        <p:txBody>
          <a:bodyPr wrap="square" lIns="0" tIns="0" rIns="0" bIns="0" rtlCol="0" anchor="t"/>
          <a:lstStyle/>
          <a:p>
            <a:pPr indent="0" marL="0">
              <a:buNone/>
            </a:pPr>
            <a:r>
              <a:rPr lang="en-US" sz="4000" b="1" dirty="0">
                <a:solidFill>
                  <a:schemeClr val="accent1"/>
                </a:solidFill>
              </a:rPr>
              <a:t>4</a:t>
            </a:r>
            <a:endParaRPr lang="en-US" sz="4000" dirty="0"/>
          </a:p>
        </p:txBody>
      </p:sp>
      <p:sp>
        <p:nvSpPr>
          <p:cNvPr id="18" name="Text 16"/>
          <p:cNvSpPr txBox="1"/>
          <p:nvPr/>
        </p:nvSpPr>
        <p:spPr>
          <a:xfrm>
            <a:off x="7445228" y="2752344"/>
            <a:ext cx="1588679" cy="411480"/>
          </a:xfrm>
          <a:prstGeom prst="rect">
            <a:avLst/>
          </a:prstGeom>
          <a:noFill/>
          <a:ln/>
        </p:spPr>
        <p:txBody>
          <a:bodyPr wrap="square" lIns="0" tIns="0" rIns="0" bIns="0" rtlCol="0" anchor="t"/>
          <a:lstStyle/>
          <a:p>
            <a:pPr indent="0" marL="0">
              <a:buNone/>
            </a:pPr>
            <a:r>
              <a:rPr lang="en-US" sz="1800" b="1" dirty="0">
                <a:solidFill>
                  <a:schemeClr val="tx1"/>
                </a:solidFill>
              </a:rPr>
              <a:t>Handler</a:t>
            </a:r>
            <a:endParaRPr lang="en-US" sz="1800" dirty="0"/>
          </a:p>
        </p:txBody>
      </p:sp>
      <p:sp>
        <p:nvSpPr>
          <p:cNvPr id="19" name="Text 17"/>
          <p:cNvSpPr txBox="1"/>
          <p:nvPr/>
        </p:nvSpPr>
        <p:spPr>
          <a:xfrm>
            <a:off x="7445228" y="3209544"/>
            <a:ext cx="1588679" cy="1280160"/>
          </a:xfrm>
          <a:prstGeom prst="rect">
            <a:avLst/>
          </a:prstGeom>
          <a:noFill/>
          <a:ln/>
        </p:spPr>
        <p:txBody>
          <a:bodyPr wrap="square" lIns="0" tIns="0" rIns="0" bIns="0" rtlCol="0" anchor="t"/>
          <a:lstStyle/>
          <a:p>
            <a:pPr indent="0" marL="0">
              <a:buNone/>
            </a:pPr>
            <a:r>
              <a:rPr lang="en-US" sz="1400" dirty="0">
                <a:solidFill>
                  <a:schemeClr val="accent4"/>
                </a:solidFill>
              </a:rPr>
              <a:t>Un @ExceptionHandler che usa problem() e aggiunge le estensioni.</a:t>
            </a:r>
            <a:endParaRPr lang="en-US" sz="1400" dirty="0"/>
          </a:p>
        </p:txBody>
      </p:sp>
      <p:sp>
        <p:nvSpPr>
          <p:cNvPr id="20" name="Passo 5"/>
          <p:cNvSpPr/>
          <p:nvPr/>
        </p:nvSpPr>
        <p:spPr>
          <a:xfrm>
            <a:off x="9387779" y="1883664"/>
            <a:ext cx="1991015" cy="2743200"/>
          </a:xfrm>
          <a:prstGeom prst="roundRect">
            <a:avLst>
              <a:gd name="adj" fmla="val 5511"/>
            </a:avLst>
          </a:prstGeom>
          <a:solidFill>
            <a:schemeClr val="bg1"/>
          </a:solidFill>
          <a:ln/>
        </p:spPr>
      </p:sp>
      <p:sp>
        <p:nvSpPr>
          <p:cNvPr id="21" name="Text 19"/>
          <p:cNvSpPr txBox="1"/>
          <p:nvPr/>
        </p:nvSpPr>
        <p:spPr>
          <a:xfrm>
            <a:off x="9588947" y="2066544"/>
            <a:ext cx="1588679" cy="640080"/>
          </a:xfrm>
          <a:prstGeom prst="rect">
            <a:avLst/>
          </a:prstGeom>
          <a:noFill/>
          <a:ln/>
        </p:spPr>
        <p:txBody>
          <a:bodyPr wrap="square" lIns="0" tIns="0" rIns="0" bIns="0" rtlCol="0" anchor="t"/>
          <a:lstStyle/>
          <a:p>
            <a:pPr indent="0" marL="0">
              <a:buNone/>
            </a:pPr>
            <a:r>
              <a:rPr lang="en-US" sz="4000" b="1" dirty="0">
                <a:solidFill>
                  <a:schemeClr val="accent1"/>
                </a:solidFill>
              </a:rPr>
              <a:t>5</a:t>
            </a:r>
            <a:endParaRPr lang="en-US" sz="4000" dirty="0"/>
          </a:p>
        </p:txBody>
      </p:sp>
      <p:sp>
        <p:nvSpPr>
          <p:cNvPr id="22" name="Text 20"/>
          <p:cNvSpPr txBox="1"/>
          <p:nvPr/>
        </p:nvSpPr>
        <p:spPr>
          <a:xfrm>
            <a:off x="9588947" y="2752344"/>
            <a:ext cx="1588679" cy="411480"/>
          </a:xfrm>
          <a:prstGeom prst="rect">
            <a:avLst/>
          </a:prstGeom>
          <a:noFill/>
          <a:ln/>
        </p:spPr>
        <p:txBody>
          <a:bodyPr wrap="square" lIns="0" tIns="0" rIns="0" bIns="0" rtlCol="0" anchor="t"/>
          <a:lstStyle/>
          <a:p>
            <a:pPr indent="0" marL="0">
              <a:buNone/>
            </a:pPr>
            <a:r>
              <a:rPr lang="en-US" sz="1800" b="1" dirty="0">
                <a:solidFill>
                  <a:schemeClr val="tx1"/>
                </a:solidFill>
              </a:rPr>
              <a:t>Test</a:t>
            </a:r>
            <a:endParaRPr lang="en-US" sz="1800" dirty="0"/>
          </a:p>
        </p:txBody>
      </p:sp>
      <p:sp>
        <p:nvSpPr>
          <p:cNvPr id="23" name="Text 21"/>
          <p:cNvSpPr txBox="1"/>
          <p:nvPr/>
        </p:nvSpPr>
        <p:spPr>
          <a:xfrm>
            <a:off x="9588947" y="3209544"/>
            <a:ext cx="1588679" cy="1280160"/>
          </a:xfrm>
          <a:prstGeom prst="rect">
            <a:avLst/>
          </a:prstGeom>
          <a:noFill/>
          <a:ln/>
        </p:spPr>
        <p:txBody>
          <a:bodyPr wrap="square" lIns="0" tIns="0" rIns="0" bIns="0" rtlCol="0" anchor="t"/>
          <a:lstStyle/>
          <a:p>
            <a:pPr indent="0" marL="0">
              <a:buNone/>
            </a:pPr>
            <a:r>
              <a:rPr lang="en-US" sz="1400" dirty="0">
                <a:solidFill>
                  <a:schemeClr val="accent4"/>
                </a:solidFill>
              </a:rPr>
              <a:t>MockMvcTester: status, Content-Type, code, estensioni.</a:t>
            </a:r>
            <a:endParaRPr lang="en-US" sz="1400" dirty="0"/>
          </a:p>
        </p:txBody>
      </p:sp>
      <p:sp>
        <p:nvSpPr>
          <p:cNvPr id="24" name="Text 0"/>
          <p:cNvSpPr/>
          <p:nvPr>
            <p:ph idx="102" type="body" hasCustomPrompt="1"/>
          </p:nvPr>
        </p:nvSpPr>
        <p:spPr>
          <a:xfrm>
            <a:off x="812902" y="5120640"/>
            <a:ext cx="10565892" cy="731520"/>
          </a:xfrm>
          <a:prstGeom prst="rect">
            <a:avLst/>
          </a:prstGeom>
          <a:noFill/>
          <a:ln/>
        </p:spPr>
        <p:txBody>
          <a:bodyPr wrap="square" lIns="0" tIns="0" rIns="0" bIns="0" rtlCol="0" anchor="t"/>
          <a:lstStyle/>
          <a:p>
            <a:pPr indent="0" marL="0">
              <a:buNone/>
            </a:pPr>
            <a:r>
              <a:rPr lang="en-US" sz="2000" b="1" dirty="0">
                <a:solidFill>
                  <a:schemeClr val="tx1"/>
                </a:solidFill>
              </a:rPr>
              <a:t>Controller, client e gli altri handler </a:t>
            </a:r>
            <a:pPr indent="0" marL="0">
              <a:buNone/>
            </a:pPr>
            <a:r>
              <a:rPr lang="en-US" sz="2000" b="1" dirty="0">
                <a:solidFill>
                  <a:schemeClr val="accent1"/>
                </a:solidFill>
              </a:rPr>
              <a:t>non cambiano</a:t>
            </a:r>
            <a:pPr indent="0" marL="0">
              <a:buNone/>
            </a:pPr>
            <a:r>
              <a:rPr lang="en-US" sz="2000" b="1" dirty="0">
                <a:solidFill>
                  <a:schemeClr val="tx1"/>
                </a:solidFill>
              </a:rPr>
              <a:t>.</a:t>
            </a:r>
            <a:endParaRPr lang="en-US" sz="20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RIEPILOGO · ERRORI FREQUENTI</a:t>
            </a: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tx1"/>
                </a:solidFill>
              </a:rPr>
              <a:t>Se fai questo, succede questo</a:t>
            </a:r>
            <a:endParaRPr lang="en-US" sz="3200" dirty="0"/>
          </a:p>
        </p:txBody>
      </p:sp>
      <p:graphicFrame>
        <p:nvGraphicFramePr>
          <p:cNvPr id="17" name="Errori frequenti"/>
          <p:cNvGraphicFramePr>
            <a:graphicFrameLocks noGrp="1"/>
          </p:cNvGraphicFramePr>
          <p:nvPr>
            <p:extLst>
              <p:ext uri="{D42A27DB-BD31-4B8C-83A1-F6EECF244321}">
                <p14:modId xmlns:p14="http://schemas.microsoft.com/office/powerpoint/2010/main" val="1579011935"/>
              </p:ext>
            </p:extLst>
          </p:nvPr>
        </p:nvGraphicFramePr>
        <p:xfrm>
          <a:off x="812902" y="1883664"/>
          <a:ext cx="10565892" cy="914400"/>
        </p:xfrm>
        <a:graphic>
          <a:graphicData uri="http://schemas.openxmlformats.org/drawingml/2006/table">
            <a:tbl>
              <a:tblPr/>
              <a:tblGrid>
                <a:gridCol w="3803721"/>
                <a:gridCol w="3169768"/>
                <a:gridCol w="3592403"/>
              </a:tblGrid>
              <a:tr h="0">
                <a:tc>
                  <a:txBody>
                    <a:bodyPr/>
                    <a:lstStyle/>
                    <a:p>
                      <a:pPr indent="0" marL="0">
                        <a:buNone/>
                      </a:pPr>
                      <a:r>
                        <a:rPr lang="en-US" sz="1400" b="1" dirty="0">
                          <a:solidFill>
                            <a:schemeClr val="accent2"/>
                          </a:solidFill>
                        </a:rPr>
                        <a:t>Se fai questo</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rPr>
                        <a:t>Succede</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accent2"/>
                          </a:solidFill>
                        </a:rPr>
                        <a:t>Fai invece</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accent3"/>
                    </a:solidFill>
                  </a:tcPr>
                </a:tc>
              </a:tr>
              <a:tr h="0">
                <a:tc>
                  <a:txBody>
                    <a:bodyPr/>
                    <a:lstStyle/>
                    <a:p>
                      <a:pPr indent="0" marL="0">
                        <a:buNone/>
                      </a:pPr>
                      <a:r>
                        <a:rPr lang="en-US" sz="1400" dirty="0">
                          <a:solidFill>
                            <a:schemeClr val="tx1"/>
                          </a:solidFill>
                        </a:rPr>
                        <a:t>@ExceptionHandler per MethodArgumentNotValidException</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L’applicazione non parte: handler ambiguo</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Override di handleMethodArgumentNotValid</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Vincolo su un parametro senza override</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400 generico, senza code né errors</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Override di handleHandlerMethodValidationException</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return ResponseEntity.badRequest() in un override</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Salti handleExceptionInternal e le sue regole</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return handleExceptionInternal(...)</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r>
              <a:tr h="0">
                <a:tc>
                  <a:txBody>
                    <a:bodyPr/>
                    <a:lstStyle/>
                    <a:p>
                      <a:pPr indent="0" marL="0">
                        <a:buNone/>
                      </a:pPr>
                      <a:r>
                        <a:rPr lang="en-US" sz="1400" dirty="0">
                          <a:solidFill>
                            <a:schemeClr val="tx1"/>
                          </a:solidFill>
                        </a:rPr>
                        <a:t>Eccezione checked in un metodo @Transactional</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Commit invece di rollback</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Estendi RuntimeException</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2"/>
                    </a:solidFill>
                  </a:tcPr>
                </a:tc>
              </a:tr>
              <a:tr h="0">
                <a:tc>
                  <a:txBody>
                    <a:bodyPr/>
                    <a:lstStyle/>
                    <a:p>
                      <a:pPr indent="0" marL="0">
                        <a:buNone/>
                      </a:pPr>
                      <a:r>
                        <a:rPr lang="en-US" sz="1400" dirty="0">
                          <a:solidFill>
                            <a:schemeClr val="tx1"/>
                          </a:solidFill>
                        </a:rPr>
                        <a:t>Messaggio del database nel detail</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Dettagli interni esposti al client</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Messaggio fisso, dal catalogo</a:t>
                      </a:r>
                      <a:endParaRPr lang="en-US" sz="1400" dirty="0"/>
                    </a:p>
                  </a:txBody>
                  <a:tcPr marL="109728" marR="109728" marT="73152" marB="73152" anchor="ctr">
                    <a:lnL w="9525" cap="flat" cmpd="sng" algn="ctr">
                      <a:solidFill>
                        <a:srgbClr val="ECEAE3"/>
                      </a:solidFill>
                      <a:prstDash val="solid"/>
                      <a:round/>
                      <a:headEnd type="none" w="med" len="med"/>
                      <a:tailEnd type="none" w="med" len="med"/>
                    </a:lnL>
                    <a:lnR w="9525" cap="flat" cmpd="sng" algn="ctr">
                      <a:solidFill>
                        <a:srgbClr val="ECEAE3"/>
                      </a:solidFill>
                      <a:prstDash val="solid"/>
                      <a:round/>
                      <a:headEnd type="none" w="med" len="med"/>
                      <a:tailEnd type="none" w="med" len="med"/>
                    </a:lnR>
                    <a:lnT w="9525" cap="flat" cmpd="sng" algn="ctr">
                      <a:solidFill>
                        <a:srgbClr val="ECEAE3"/>
                      </a:solidFill>
                      <a:prstDash val="solid"/>
                      <a:round/>
                      <a:headEnd type="none" w="med" len="med"/>
                      <a:tailEnd type="none" w="med" len="med"/>
                    </a:lnT>
                    <a:lnB w="9525" cap="flat" cmpd="sng" algn="ctr">
                      <a:solidFill>
                        <a:srgbClr val="ECEAE3"/>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812902" y="812902"/>
            <a:ext cx="10565892"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RIEPILOGO · IL FLUSSO</a:t>
            </a:r>
            <a:endParaRPr lang="en-US" sz="1200" dirty="0"/>
          </a:p>
        </p:txBody>
      </p:sp>
      <p:sp>
        <p:nvSpPr>
          <p:cNvPr id="3" name="Text 0"/>
          <p:cNvSpPr/>
          <p:nvPr>
            <p:ph idx="101" type="title" hasCustomPrompt="1"/>
          </p:nvPr>
        </p:nvSpPr>
        <p:spPr>
          <a:xfrm>
            <a:off x="812902" y="1143000"/>
            <a:ext cx="10565892" cy="594360"/>
          </a:xfrm>
          <a:prstGeom prst="rect">
            <a:avLst/>
          </a:prstGeom>
          <a:noFill/>
          <a:ln/>
        </p:spPr>
        <p:txBody>
          <a:bodyPr wrap="square" lIns="0" tIns="0" rIns="0" bIns="0" rtlCol="0" anchor="t"/>
          <a:lstStyle/>
          <a:p>
            <a:pPr indent="0" marL="0">
              <a:buNone/>
            </a:pPr>
            <a:r>
              <a:rPr lang="en-US" sz="3200" b="1" dirty="0">
                <a:solidFill>
                  <a:schemeClr val="bg1"/>
                </a:solidFill>
              </a:rPr>
              <a:t>Chi fa cosa, dalla richiesta all’utente</a:t>
            </a:r>
            <a:endParaRPr lang="en-US" sz="3200" dirty="0"/>
          </a:p>
        </p:txBody>
      </p:sp>
      <p:sp>
        <p:nvSpPr>
          <p:cNvPr id="4" name="Fase Controller"/>
          <p:cNvSpPr/>
          <p:nvPr/>
        </p:nvSpPr>
        <p:spPr>
          <a:xfrm>
            <a:off x="812902" y="1883664"/>
            <a:ext cx="1762049" cy="2514600"/>
          </a:xfrm>
          <a:prstGeom prst="roundRect">
            <a:avLst>
              <a:gd name="adj" fmla="val 6227"/>
            </a:avLst>
          </a:prstGeom>
          <a:solidFill>
            <a:schemeClr val="accent4"/>
          </a:solidFill>
          <a:ln/>
        </p:spPr>
      </p:sp>
      <p:sp>
        <p:nvSpPr>
          <p:cNvPr id="5" name="Text 3"/>
          <p:cNvSpPr txBox="1"/>
          <p:nvPr/>
        </p:nvSpPr>
        <p:spPr>
          <a:xfrm>
            <a:off x="995782" y="2066544"/>
            <a:ext cx="1396289" cy="274320"/>
          </a:xfrm>
          <a:prstGeom prst="rect">
            <a:avLst/>
          </a:prstGeom>
          <a:noFill/>
          <a:ln/>
        </p:spPr>
        <p:txBody>
          <a:bodyPr wrap="square" lIns="0" tIns="0" rIns="0" bIns="0" rtlCol="0" anchor="t"/>
          <a:lstStyle/>
          <a:p>
            <a:pPr indent="0" marL="0">
              <a:buNone/>
            </a:pPr>
            <a:r>
              <a:rPr lang="en-US" sz="1200" b="1" dirty="0">
                <a:solidFill>
                  <a:schemeClr val="accent2"/>
                </a:solidFill>
              </a:rPr>
              <a:t>1</a:t>
            </a:r>
            <a:endParaRPr lang="en-US" sz="1200" dirty="0"/>
          </a:p>
        </p:txBody>
      </p:sp>
      <p:sp>
        <p:nvSpPr>
          <p:cNvPr id="6" name="Text 4"/>
          <p:cNvSpPr txBox="1"/>
          <p:nvPr/>
        </p:nvSpPr>
        <p:spPr>
          <a:xfrm>
            <a:off x="995782" y="2386584"/>
            <a:ext cx="1396289" cy="411480"/>
          </a:xfrm>
          <a:prstGeom prst="rect">
            <a:avLst/>
          </a:prstGeom>
          <a:noFill/>
          <a:ln/>
        </p:spPr>
        <p:txBody>
          <a:bodyPr wrap="square" lIns="0" tIns="0" rIns="0" bIns="0" rtlCol="0" anchor="t"/>
          <a:lstStyle/>
          <a:p>
            <a:pPr indent="0" marL="0">
              <a:buNone/>
            </a:pPr>
            <a:r>
              <a:rPr lang="en-US" sz="1800" b="1" dirty="0">
                <a:solidFill>
                  <a:schemeClr val="bg1"/>
                </a:solidFill>
              </a:rPr>
              <a:t>Controller</a:t>
            </a:r>
            <a:endParaRPr lang="en-US" sz="1800" dirty="0"/>
          </a:p>
        </p:txBody>
      </p:sp>
      <p:sp>
        <p:nvSpPr>
          <p:cNvPr id="7" name="Text 5"/>
          <p:cNvSpPr txBox="1"/>
          <p:nvPr/>
        </p:nvSpPr>
        <p:spPr>
          <a:xfrm>
            <a:off x="995782" y="2843784"/>
            <a:ext cx="1396289" cy="1417320"/>
          </a:xfrm>
          <a:prstGeom prst="rect">
            <a:avLst/>
          </a:prstGeom>
          <a:noFill/>
          <a:ln/>
        </p:spPr>
        <p:txBody>
          <a:bodyPr wrap="square" lIns="0" tIns="0" rIns="0" bIns="0" rtlCol="0" anchor="t"/>
          <a:lstStyle/>
          <a:p>
            <a:pPr indent="0" marL="0">
              <a:buNone/>
            </a:pPr>
            <a:r>
              <a:rPr lang="en-US" sz="1400" dirty="0">
                <a:solidFill>
                  <a:schemeClr val="bg2"/>
                </a:solidFill>
              </a:rPr>
              <a:t>Valida l’input e delega. Input non valido: eccezione di validazione.</a:t>
            </a:r>
            <a:endParaRPr lang="en-US" sz="1400" dirty="0"/>
          </a:p>
        </p:txBody>
      </p:sp>
      <p:sp>
        <p:nvSpPr>
          <p:cNvPr id="8" name="Freccia 1"/>
          <p:cNvSpPr/>
          <p:nvPr/>
        </p:nvSpPr>
        <p:spPr>
          <a:xfrm>
            <a:off x="2666390" y="3072384"/>
            <a:ext cx="256032" cy="146304"/>
          </a:xfrm>
          <a:prstGeom prst="rightArrow">
            <a:avLst/>
          </a:prstGeom>
          <a:solidFill>
            <a:schemeClr val="accent2"/>
          </a:solidFill>
          <a:ln/>
        </p:spPr>
      </p:sp>
      <p:sp>
        <p:nvSpPr>
          <p:cNvPr id="9" name="Fase Service"/>
          <p:cNvSpPr/>
          <p:nvPr/>
        </p:nvSpPr>
        <p:spPr>
          <a:xfrm>
            <a:off x="3013862" y="1883664"/>
            <a:ext cx="1762049" cy="2514600"/>
          </a:xfrm>
          <a:prstGeom prst="roundRect">
            <a:avLst>
              <a:gd name="adj" fmla="val 6227"/>
            </a:avLst>
          </a:prstGeom>
          <a:solidFill>
            <a:schemeClr val="accent4"/>
          </a:solidFill>
          <a:ln/>
        </p:spPr>
      </p:sp>
      <p:sp>
        <p:nvSpPr>
          <p:cNvPr id="10" name="Text 8"/>
          <p:cNvSpPr txBox="1"/>
          <p:nvPr/>
        </p:nvSpPr>
        <p:spPr>
          <a:xfrm>
            <a:off x="3196742" y="2066544"/>
            <a:ext cx="1396289" cy="274320"/>
          </a:xfrm>
          <a:prstGeom prst="rect">
            <a:avLst/>
          </a:prstGeom>
          <a:noFill/>
          <a:ln/>
        </p:spPr>
        <p:txBody>
          <a:bodyPr wrap="square" lIns="0" tIns="0" rIns="0" bIns="0" rtlCol="0" anchor="t"/>
          <a:lstStyle/>
          <a:p>
            <a:pPr indent="0" marL="0">
              <a:buNone/>
            </a:pPr>
            <a:r>
              <a:rPr lang="en-US" sz="1200" b="1" dirty="0">
                <a:solidFill>
                  <a:schemeClr val="accent2"/>
                </a:solidFill>
              </a:rPr>
              <a:t>2</a:t>
            </a:r>
            <a:endParaRPr lang="en-US" sz="1200" dirty="0"/>
          </a:p>
        </p:txBody>
      </p:sp>
      <p:sp>
        <p:nvSpPr>
          <p:cNvPr id="11" name="Text 9"/>
          <p:cNvSpPr txBox="1"/>
          <p:nvPr/>
        </p:nvSpPr>
        <p:spPr>
          <a:xfrm>
            <a:off x="3196742" y="2386584"/>
            <a:ext cx="1396289" cy="411480"/>
          </a:xfrm>
          <a:prstGeom prst="rect">
            <a:avLst/>
          </a:prstGeom>
          <a:noFill/>
          <a:ln/>
        </p:spPr>
        <p:txBody>
          <a:bodyPr wrap="square" lIns="0" tIns="0" rIns="0" bIns="0" rtlCol="0" anchor="t"/>
          <a:lstStyle/>
          <a:p>
            <a:pPr indent="0" marL="0">
              <a:buNone/>
            </a:pPr>
            <a:r>
              <a:rPr lang="en-US" sz="1800" b="1" dirty="0">
                <a:solidFill>
                  <a:schemeClr val="bg1"/>
                </a:solidFill>
              </a:rPr>
              <a:t>Service</a:t>
            </a:r>
            <a:endParaRPr lang="en-US" sz="1800" dirty="0"/>
          </a:p>
        </p:txBody>
      </p:sp>
      <p:sp>
        <p:nvSpPr>
          <p:cNvPr id="12" name="Text 10"/>
          <p:cNvSpPr txBox="1"/>
          <p:nvPr/>
        </p:nvSpPr>
        <p:spPr>
          <a:xfrm>
            <a:off x="3196742" y="2843784"/>
            <a:ext cx="1396289" cy="1417320"/>
          </a:xfrm>
          <a:prstGeom prst="rect">
            <a:avLst/>
          </a:prstGeom>
          <a:noFill/>
          <a:ln/>
        </p:spPr>
        <p:txBody>
          <a:bodyPr wrap="square" lIns="0" tIns="0" rIns="0" bIns="0" rtlCol="0" anchor="t"/>
          <a:lstStyle/>
          <a:p>
            <a:pPr indent="0" marL="0">
              <a:buNone/>
            </a:pPr>
            <a:r>
              <a:rPr lang="en-US" sz="1400" dirty="0">
                <a:solidFill>
                  <a:schemeClr val="bg2"/>
                </a:solidFill>
              </a:rPr>
              <a:t>Verifica le regole e lancia l’eccezione di dominio.</a:t>
            </a:r>
            <a:endParaRPr lang="en-US" sz="1400" dirty="0"/>
          </a:p>
        </p:txBody>
      </p:sp>
      <p:sp>
        <p:nvSpPr>
          <p:cNvPr id="13" name="Freccia 2"/>
          <p:cNvSpPr/>
          <p:nvPr/>
        </p:nvSpPr>
        <p:spPr>
          <a:xfrm>
            <a:off x="4867351" y="3072384"/>
            <a:ext cx="256032" cy="146304"/>
          </a:xfrm>
          <a:prstGeom prst="rightArrow">
            <a:avLst/>
          </a:prstGeom>
          <a:solidFill>
            <a:schemeClr val="accent2"/>
          </a:solidFill>
          <a:ln/>
        </p:spPr>
      </p:sp>
      <p:sp>
        <p:nvSpPr>
          <p:cNvPr id="14" name="Fase Advice"/>
          <p:cNvSpPr/>
          <p:nvPr/>
        </p:nvSpPr>
        <p:spPr>
          <a:xfrm>
            <a:off x="5214823" y="1883664"/>
            <a:ext cx="1762049" cy="2514600"/>
          </a:xfrm>
          <a:prstGeom prst="roundRect">
            <a:avLst>
              <a:gd name="adj" fmla="val 6227"/>
            </a:avLst>
          </a:prstGeom>
          <a:solidFill>
            <a:schemeClr val="accent2"/>
          </a:solidFill>
          <a:ln/>
        </p:spPr>
      </p:sp>
      <p:sp>
        <p:nvSpPr>
          <p:cNvPr id="15" name="Text 13"/>
          <p:cNvSpPr txBox="1"/>
          <p:nvPr/>
        </p:nvSpPr>
        <p:spPr>
          <a:xfrm>
            <a:off x="5397703" y="2066544"/>
            <a:ext cx="1396289" cy="274320"/>
          </a:xfrm>
          <a:prstGeom prst="rect">
            <a:avLst/>
          </a:prstGeom>
          <a:noFill/>
          <a:ln/>
        </p:spPr>
        <p:txBody>
          <a:bodyPr wrap="square" lIns="0" tIns="0" rIns="0" bIns="0" rtlCol="0" anchor="t"/>
          <a:lstStyle/>
          <a:p>
            <a:pPr indent="0" marL="0">
              <a:buNone/>
            </a:pPr>
            <a:r>
              <a:rPr lang="en-US" sz="1200" b="1" dirty="0">
                <a:solidFill>
                  <a:schemeClr val="tx2"/>
                </a:solidFill>
              </a:rPr>
              <a:t>3</a:t>
            </a:r>
            <a:endParaRPr lang="en-US" sz="1200" dirty="0"/>
          </a:p>
        </p:txBody>
      </p:sp>
      <p:sp>
        <p:nvSpPr>
          <p:cNvPr id="16" name="Text 14"/>
          <p:cNvSpPr txBox="1"/>
          <p:nvPr/>
        </p:nvSpPr>
        <p:spPr>
          <a:xfrm>
            <a:off x="5397703" y="2386584"/>
            <a:ext cx="1396289" cy="411480"/>
          </a:xfrm>
          <a:prstGeom prst="rect">
            <a:avLst/>
          </a:prstGeom>
          <a:noFill/>
          <a:ln/>
        </p:spPr>
        <p:txBody>
          <a:bodyPr wrap="square" lIns="0" tIns="0" rIns="0" bIns="0" rtlCol="0" anchor="t"/>
          <a:lstStyle/>
          <a:p>
            <a:pPr indent="0" marL="0">
              <a:buNone/>
            </a:pPr>
            <a:r>
              <a:rPr lang="en-US" sz="1800" b="1" dirty="0">
                <a:solidFill>
                  <a:schemeClr val="tx2"/>
                </a:solidFill>
              </a:rPr>
              <a:t>Advice</a:t>
            </a:r>
            <a:endParaRPr lang="en-US" sz="1800" dirty="0"/>
          </a:p>
        </p:txBody>
      </p:sp>
      <p:sp>
        <p:nvSpPr>
          <p:cNvPr id="17" name="Text 15"/>
          <p:cNvSpPr txBox="1"/>
          <p:nvPr/>
        </p:nvSpPr>
        <p:spPr>
          <a:xfrm>
            <a:off x="5397703" y="2843784"/>
            <a:ext cx="1396289" cy="1417320"/>
          </a:xfrm>
          <a:prstGeom prst="rect">
            <a:avLst/>
          </a:prstGeom>
          <a:noFill/>
          <a:ln/>
        </p:spPr>
        <p:txBody>
          <a:bodyPr wrap="square" lIns="0" tIns="0" rIns="0" bIns="0" rtlCol="0" anchor="t"/>
          <a:lstStyle/>
          <a:p>
            <a:pPr indent="0" marL="0">
              <a:buNone/>
            </a:pPr>
            <a:r>
              <a:rPr lang="en-US" sz="1400" dirty="0">
                <a:solidFill>
                  <a:schemeClr val="tx2"/>
                </a:solidFill>
              </a:rPr>
              <a:t>Sceglie l’handler e costruisce il ProblemDetail.</a:t>
            </a:r>
            <a:endParaRPr lang="en-US" sz="1400" dirty="0"/>
          </a:p>
        </p:txBody>
      </p:sp>
      <p:sp>
        <p:nvSpPr>
          <p:cNvPr id="18" name="Freccia 3"/>
          <p:cNvSpPr/>
          <p:nvPr/>
        </p:nvSpPr>
        <p:spPr>
          <a:xfrm>
            <a:off x="7068312" y="3072384"/>
            <a:ext cx="256032" cy="146304"/>
          </a:xfrm>
          <a:prstGeom prst="rightArrow">
            <a:avLst/>
          </a:prstGeom>
          <a:solidFill>
            <a:schemeClr val="accent2"/>
          </a:solidFill>
          <a:ln/>
        </p:spPr>
      </p:sp>
      <p:sp>
        <p:nvSpPr>
          <p:cNvPr id="19" name="Fase Spring MVC"/>
          <p:cNvSpPr/>
          <p:nvPr/>
        </p:nvSpPr>
        <p:spPr>
          <a:xfrm>
            <a:off x="7415784" y="1883664"/>
            <a:ext cx="1762049" cy="2514600"/>
          </a:xfrm>
          <a:prstGeom prst="roundRect">
            <a:avLst>
              <a:gd name="adj" fmla="val 6227"/>
            </a:avLst>
          </a:prstGeom>
          <a:solidFill>
            <a:schemeClr val="accent4"/>
          </a:solidFill>
          <a:ln/>
        </p:spPr>
      </p:sp>
      <p:sp>
        <p:nvSpPr>
          <p:cNvPr id="20" name="Text 18"/>
          <p:cNvSpPr txBox="1"/>
          <p:nvPr/>
        </p:nvSpPr>
        <p:spPr>
          <a:xfrm>
            <a:off x="7598664" y="2066544"/>
            <a:ext cx="1396289" cy="274320"/>
          </a:xfrm>
          <a:prstGeom prst="rect">
            <a:avLst/>
          </a:prstGeom>
          <a:noFill/>
          <a:ln/>
        </p:spPr>
        <p:txBody>
          <a:bodyPr wrap="square" lIns="0" tIns="0" rIns="0" bIns="0" rtlCol="0" anchor="t"/>
          <a:lstStyle/>
          <a:p>
            <a:pPr indent="0" marL="0">
              <a:buNone/>
            </a:pPr>
            <a:r>
              <a:rPr lang="en-US" sz="1200" b="1" dirty="0">
                <a:solidFill>
                  <a:schemeClr val="accent2"/>
                </a:solidFill>
              </a:rPr>
              <a:t>4</a:t>
            </a:r>
            <a:endParaRPr lang="en-US" sz="1200" dirty="0"/>
          </a:p>
        </p:txBody>
      </p:sp>
      <p:sp>
        <p:nvSpPr>
          <p:cNvPr id="21" name="Text 19"/>
          <p:cNvSpPr txBox="1"/>
          <p:nvPr/>
        </p:nvSpPr>
        <p:spPr>
          <a:xfrm>
            <a:off x="7598664" y="2386584"/>
            <a:ext cx="1396289" cy="411480"/>
          </a:xfrm>
          <a:prstGeom prst="rect">
            <a:avLst/>
          </a:prstGeom>
          <a:noFill/>
          <a:ln/>
        </p:spPr>
        <p:txBody>
          <a:bodyPr wrap="square" lIns="0" tIns="0" rIns="0" bIns="0" rtlCol="0" anchor="t"/>
          <a:lstStyle/>
          <a:p>
            <a:pPr indent="0" marL="0">
              <a:buNone/>
            </a:pPr>
            <a:r>
              <a:rPr lang="en-US" sz="1800" b="1" dirty="0">
                <a:solidFill>
                  <a:schemeClr val="bg1"/>
                </a:solidFill>
              </a:rPr>
              <a:t>Spring MVC</a:t>
            </a:r>
            <a:endParaRPr lang="en-US" sz="1800" dirty="0"/>
          </a:p>
        </p:txBody>
      </p:sp>
      <p:sp>
        <p:nvSpPr>
          <p:cNvPr id="22" name="Text 20"/>
          <p:cNvSpPr txBox="1"/>
          <p:nvPr/>
        </p:nvSpPr>
        <p:spPr>
          <a:xfrm>
            <a:off x="7598664" y="2843784"/>
            <a:ext cx="1396289" cy="1417320"/>
          </a:xfrm>
          <a:prstGeom prst="rect">
            <a:avLst/>
          </a:prstGeom>
          <a:noFill/>
          <a:ln/>
        </p:spPr>
        <p:txBody>
          <a:bodyPr wrap="square" lIns="0" tIns="0" rIns="0" bIns="0" rtlCol="0" anchor="t"/>
          <a:lstStyle/>
          <a:p>
            <a:pPr indent="0" marL="0">
              <a:buNone/>
            </a:pPr>
            <a:r>
              <a:rPr lang="en-US" sz="1400" dirty="0">
                <a:solidFill>
                  <a:schemeClr val="bg2"/>
                </a:solidFill>
              </a:rPr>
              <a:t>Scrive status, header e corpo problem+json.</a:t>
            </a:r>
            <a:endParaRPr lang="en-US" sz="1400" dirty="0"/>
          </a:p>
        </p:txBody>
      </p:sp>
      <p:sp>
        <p:nvSpPr>
          <p:cNvPr id="23" name="Freccia 4"/>
          <p:cNvSpPr/>
          <p:nvPr/>
        </p:nvSpPr>
        <p:spPr>
          <a:xfrm>
            <a:off x="9269273" y="3072384"/>
            <a:ext cx="256032" cy="146304"/>
          </a:xfrm>
          <a:prstGeom prst="rightArrow">
            <a:avLst/>
          </a:prstGeom>
          <a:solidFill>
            <a:schemeClr val="accent2"/>
          </a:solidFill>
          <a:ln/>
        </p:spPr>
      </p:sp>
      <p:sp>
        <p:nvSpPr>
          <p:cNvPr id="24" name="Fase Angular"/>
          <p:cNvSpPr/>
          <p:nvPr/>
        </p:nvSpPr>
        <p:spPr>
          <a:xfrm>
            <a:off x="9616745" y="1883664"/>
            <a:ext cx="1762049" cy="2514600"/>
          </a:xfrm>
          <a:prstGeom prst="roundRect">
            <a:avLst>
              <a:gd name="adj" fmla="val 6227"/>
            </a:avLst>
          </a:prstGeom>
          <a:solidFill>
            <a:schemeClr val="accent4"/>
          </a:solidFill>
          <a:ln/>
        </p:spPr>
      </p:sp>
      <p:sp>
        <p:nvSpPr>
          <p:cNvPr id="25" name="Text 23"/>
          <p:cNvSpPr txBox="1"/>
          <p:nvPr/>
        </p:nvSpPr>
        <p:spPr>
          <a:xfrm>
            <a:off x="9799625" y="2066544"/>
            <a:ext cx="1396289" cy="274320"/>
          </a:xfrm>
          <a:prstGeom prst="rect">
            <a:avLst/>
          </a:prstGeom>
          <a:noFill/>
          <a:ln/>
        </p:spPr>
        <p:txBody>
          <a:bodyPr wrap="square" lIns="0" tIns="0" rIns="0" bIns="0" rtlCol="0" anchor="t"/>
          <a:lstStyle/>
          <a:p>
            <a:pPr indent="0" marL="0">
              <a:buNone/>
            </a:pPr>
            <a:r>
              <a:rPr lang="en-US" sz="1200" b="1" dirty="0">
                <a:solidFill>
                  <a:schemeClr val="accent2"/>
                </a:solidFill>
              </a:rPr>
              <a:t>5</a:t>
            </a:r>
            <a:endParaRPr lang="en-US" sz="1200" dirty="0"/>
          </a:p>
        </p:txBody>
      </p:sp>
      <p:sp>
        <p:nvSpPr>
          <p:cNvPr id="26" name="Text 24"/>
          <p:cNvSpPr txBox="1"/>
          <p:nvPr/>
        </p:nvSpPr>
        <p:spPr>
          <a:xfrm>
            <a:off x="9799625" y="2386584"/>
            <a:ext cx="1396289" cy="411480"/>
          </a:xfrm>
          <a:prstGeom prst="rect">
            <a:avLst/>
          </a:prstGeom>
          <a:noFill/>
          <a:ln/>
        </p:spPr>
        <p:txBody>
          <a:bodyPr wrap="square" lIns="0" tIns="0" rIns="0" bIns="0" rtlCol="0" anchor="t"/>
          <a:lstStyle/>
          <a:p>
            <a:pPr indent="0" marL="0">
              <a:buNone/>
            </a:pPr>
            <a:r>
              <a:rPr lang="en-US" sz="1800" b="1" dirty="0">
                <a:solidFill>
                  <a:schemeClr val="bg1"/>
                </a:solidFill>
              </a:rPr>
              <a:t>Angular</a:t>
            </a:r>
            <a:endParaRPr lang="en-US" sz="1800" dirty="0"/>
          </a:p>
        </p:txBody>
      </p:sp>
      <p:sp>
        <p:nvSpPr>
          <p:cNvPr id="27" name="Text 25"/>
          <p:cNvSpPr txBox="1"/>
          <p:nvPr/>
        </p:nvSpPr>
        <p:spPr>
          <a:xfrm>
            <a:off x="9799625" y="2843784"/>
            <a:ext cx="1396289" cy="1417320"/>
          </a:xfrm>
          <a:prstGeom prst="rect">
            <a:avLst/>
          </a:prstGeom>
          <a:noFill/>
          <a:ln/>
        </p:spPr>
        <p:txBody>
          <a:bodyPr wrap="square" lIns="0" tIns="0" rIns="0" bIns="0" rtlCol="0" anchor="t"/>
          <a:lstStyle/>
          <a:p>
            <a:pPr indent="0" marL="0">
              <a:buNone/>
            </a:pPr>
            <a:r>
              <a:rPr lang="en-US" sz="1400" dirty="0">
                <a:solidFill>
                  <a:schemeClr val="bg2"/>
                </a:solidFill>
              </a:rPr>
              <a:t>L’interceptor normalizza, il componente mostra.</a:t>
            </a:r>
            <a:endParaRPr lang="en-US" sz="1400" dirty="0"/>
          </a:p>
        </p:txBody>
      </p:sp>
      <p:sp>
        <p:nvSpPr>
          <p:cNvPr id="28" name="Text 0"/>
          <p:cNvSpPr/>
          <p:nvPr>
            <p:ph idx="102" type="body" hasCustomPrompt="1"/>
          </p:nvPr>
        </p:nvSpPr>
        <p:spPr>
          <a:xfrm>
            <a:off x="812902" y="4983480"/>
            <a:ext cx="10565892" cy="822960"/>
          </a:xfrm>
          <a:prstGeom prst="rect">
            <a:avLst/>
          </a:prstGeom>
          <a:noFill/>
          <a:ln/>
        </p:spPr>
        <p:txBody>
          <a:bodyPr wrap="square" lIns="0" tIns="0" rIns="0" bIns="0" rtlCol="0" anchor="t"/>
          <a:lstStyle/>
          <a:p>
            <a:pPr indent="0" marL="0">
              <a:buNone/>
            </a:pPr>
            <a:r>
              <a:rPr lang="en-US" sz="2000" b="1" dirty="0">
                <a:solidFill>
                  <a:schemeClr val="bg1"/>
                </a:solidFill>
              </a:rPr>
              <a:t>Tu scrivi eccezioni, catalogo e handler.</a:t>
            </a:r>
            <a:endParaRPr lang="en-US" sz="2000" dirty="0"/>
          </a:p>
          <a:p>
            <a:pPr indent="0" marL="0">
              <a:buNone/>
            </a:pPr>
            <a:r>
              <a:rPr lang="en-US" sz="2000" b="1" dirty="0">
                <a:solidFill>
                  <a:schemeClr val="accent2"/>
                </a:solidFill>
              </a:rPr>
              <a:t>Status, header e JSON li scrive il framework.</a:t>
            </a:r>
            <a:endParaRPr lang="en-US" sz="2000" dirty="0"/>
          </a:p>
        </p:txBody>
      </p:sp>
      <p:sp>
        <p:nvSpPr>
          <p:cNvPr id="25" name="Slide Number Placeholder 0"/>
          <p:cNvSpPr>
            <a:spLocks noGrp="1"/>
          </p:cNvSpPr>
          <p:nvPr>
            <p:ph type="sldNum" sz="quarter" idx="4294967295"/>
          </p:nvPr>
        </p:nvSpPr>
        <p:spPr>
          <a:xfrm>
            <a:off x="10972800" y="6263640"/>
            <a:ext cx="402336" cy="274320"/>
          </a:xfrm>
          <a:prstGeom prst="rect">
            <a:avLst/>
          </a:prstGeom>
          <a:extLst>
            <a:ext uri="{C572A759-6A51-4108-AA02-DFA0A04FC94B}">
              <ma14:wrappingTextBoxFlag xmlns:ma14="http://schemas.microsoft.com/office/mac/drawingml/2011/main" val="0"/>
            </a:ext>
          </a:extLst>
        </p:spPr>
        <p:txBody>
          <a:bodyPr/>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Ricettario eccezioni">
  <a:themeElements>
    <a:clrScheme name="Ricettario eccezioni">
      <a:dk1>
        <a:srgbClr val="1B2530"/>
      </a:dk1>
      <a:lt1>
        <a:srgbClr val="F6F5F1"/>
      </a:lt1>
      <a:dk2>
        <a:srgbClr val="16202A"/>
      </a:dk2>
      <a:lt2>
        <a:srgbClr val="ECEAE3"/>
      </a:lt2>
      <a:accent1>
        <a:srgbClr val="A64B14"/>
      </a:accent1>
      <a:accent2>
        <a:srgbClr val="F2A766"/>
      </a:accent2>
      <a:accent3>
        <a:srgbClr val="1C2733"/>
      </a:accent3>
      <a:accent4>
        <a:srgbClr val="3E4955"/>
      </a:accent4>
      <a:accent5>
        <a:srgbClr val="8FA3B3"/>
      </a:accent5>
      <a:accent6>
        <a:srgbClr val="5E6873"/>
      </a:accent6>
      <a:hlink>
        <a:srgbClr val="A64B14"/>
      </a:hlink>
      <a:folHlink>
        <a:srgbClr val="5E6873"/>
      </a:folHlink>
    </a:clrScheme>
    <a:fontScheme name="Ricettario eccezion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Gestire le eccezioni lato controller</dc:title>
  <dc:subject>PptxGenJS Presentation</dc:subject>
  <dc:creator>java_learning</dc:creator>
  <cp:lastModifiedBy>java_learning</cp:lastModifiedBy>
  <cp:revision>1</cp:revision>
  <dcterms:created xsi:type="dcterms:W3CDTF">2026-10-20T15:27:08Z</dcterms:created>
  <dcterms:modified xsi:type="dcterms:W3CDTF">2026-10-20T15:27:08Z</dcterms:modified>
</cp:coreProperties>
</file>